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8895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iyw5cM9+O3/cKYoJZXv8p57XwK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9631bda09f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g39631bda09f_0_1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6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7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7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08E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411465" y="3160060"/>
            <a:ext cx="11430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Sistema Inteligente de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548640" y="3948570"/>
            <a:ext cx="11430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600" u="none" cap="none" strike="noStrike">
                <a:solidFill>
                  <a:srgbClr val="B08EFF"/>
                </a:solidFill>
                <a:latin typeface="Calibri"/>
                <a:ea typeface="Calibri"/>
                <a:cs typeface="Calibri"/>
                <a:sym typeface="Calibri"/>
              </a:rPr>
              <a:t>Atención y Agendamiento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548640" y="5091570"/>
            <a:ext cx="1143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E0C8FF"/>
                </a:solidFill>
                <a:latin typeface="Calibri"/>
                <a:ea typeface="Calibri"/>
                <a:cs typeface="Calibri"/>
                <a:sym typeface="Calibri"/>
              </a:rPr>
              <a:t>Propuesta personalizada · Clínica Estética y Dermatológica · Cali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548640" y="5685930"/>
            <a:ext cx="1143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9999BB"/>
                </a:solidFill>
                <a:latin typeface="Calibri"/>
                <a:ea typeface="Calibri"/>
                <a:cs typeface="Calibri"/>
                <a:sym typeface="Calibri"/>
              </a:rPr>
              <a:t>Presentada por Cognisium LAB</a:t>
            </a:r>
            <a:endParaRPr/>
          </a:p>
        </p:txBody>
      </p:sp>
      <p:sp>
        <p:nvSpPr>
          <p:cNvPr id="89" name="Google Shape;89;p1"/>
          <p:cNvSpPr/>
          <p:nvPr/>
        </p:nvSpPr>
        <p:spPr>
          <a:xfrm>
            <a:off x="2011680" y="6508890"/>
            <a:ext cx="8229600" cy="54900"/>
          </a:xfrm>
          <a:prstGeom prst="rect">
            <a:avLst/>
          </a:prstGeom>
          <a:solidFill>
            <a:srgbClr val="B08E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/>
          <p:nvPr/>
        </p:nvSpPr>
        <p:spPr>
          <a:xfrm>
            <a:off x="457200" y="256025"/>
            <a:ext cx="8613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Diagnóstico - </a:t>
            </a:r>
            <a:r>
              <a:rPr b="1" lang="en-US" sz="3600">
                <a:solidFill>
                  <a:srgbClr val="B08EFF"/>
                </a:solidFill>
                <a:latin typeface="Calibri"/>
                <a:ea typeface="Calibri"/>
                <a:cs typeface="Calibri"/>
                <a:sym typeface="Calibri"/>
              </a:rPr>
              <a:t>El problema real</a:t>
            </a:r>
            <a:endParaRPr b="1" sz="3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"/>
          <p:cNvSpPr/>
          <p:nvPr/>
        </p:nvSpPr>
        <p:spPr>
          <a:xfrm>
            <a:off x="365760" y="1097280"/>
            <a:ext cx="5394960" cy="5074920"/>
          </a:xfrm>
          <a:prstGeom prst="rect">
            <a:avLst/>
          </a:prstGeom>
          <a:solidFill>
            <a:srgbClr val="101022"/>
          </a:solidFill>
          <a:ln cap="flat" cmpd="sng" w="9525">
            <a:solidFill>
              <a:srgbClr val="2828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685800" y="1261872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B08EFF"/>
                </a:solidFill>
                <a:latin typeface="Calibri"/>
                <a:ea typeface="Calibri"/>
                <a:cs typeface="Calibri"/>
                <a:sym typeface="Calibri"/>
              </a:rPr>
              <a:t>No es un problema de demanda</a:t>
            </a:r>
            <a:endParaRPr/>
          </a:p>
        </p:txBody>
      </p:sp>
      <p:sp>
        <p:nvSpPr>
          <p:cNvPr id="97" name="Google Shape;97;p2"/>
          <p:cNvSpPr txBox="1"/>
          <p:nvPr/>
        </p:nvSpPr>
        <p:spPr>
          <a:xfrm>
            <a:off x="658368" y="1783080"/>
            <a:ext cx="484632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4E8FF"/>
                </a:solidFill>
                <a:latin typeface="Calibri"/>
                <a:ea typeface="Calibri"/>
                <a:cs typeface="Calibri"/>
                <a:sym typeface="Calibri"/>
              </a:rPr>
              <a:t>La clínica tiene pacientes, capacidad médica y dos sedes activas en Cali.</a:t>
            </a:r>
            <a:br>
              <a:rPr b="0" i="0" lang="en-US" sz="1500" u="none" cap="none" strike="noStrike">
                <a:solidFill>
                  <a:srgbClr val="D4E8F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500" u="none" cap="none" strike="noStrike">
                <a:solidFill>
                  <a:srgbClr val="D4E8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D4E8FF"/>
                </a:solidFill>
                <a:latin typeface="Calibri"/>
                <a:ea typeface="Calibri"/>
                <a:cs typeface="Calibri"/>
                <a:sym typeface="Calibri"/>
              </a:rPr>
              <a:t>El problema es de orquestación operativa: el primer contacto del paciente no está siendo bien capturado, respondido ni convertido en agenda efectiva.</a:t>
            </a:r>
            <a:br>
              <a:rPr b="0" i="0" lang="en-US" sz="1500" u="none" cap="none" strike="noStrike">
                <a:solidFill>
                  <a:srgbClr val="D4E8F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500" u="none" cap="none" strike="noStrike">
                <a:solidFill>
                  <a:srgbClr val="D4E8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D4E8FF"/>
                </a:solidFill>
                <a:latin typeface="Calibri"/>
                <a:ea typeface="Calibri"/>
                <a:cs typeface="Calibri"/>
                <a:sym typeface="Calibri"/>
              </a:rPr>
              <a:t>En una clínica estética, ese primer contacto no es un detalle menor. Es donde se gana o se pierde la cita.</a:t>
            </a:r>
            <a:endParaRPr/>
          </a:p>
        </p:txBody>
      </p:sp>
      <p:sp>
        <p:nvSpPr>
          <p:cNvPr id="98" name="Google Shape;98;p2"/>
          <p:cNvSpPr/>
          <p:nvPr/>
        </p:nvSpPr>
        <p:spPr>
          <a:xfrm>
            <a:off x="6217920" y="1097280"/>
            <a:ext cx="5577840" cy="5074920"/>
          </a:xfrm>
          <a:prstGeom prst="rect">
            <a:avLst/>
          </a:prstGeom>
          <a:solidFill>
            <a:srgbClr val="101022"/>
          </a:solidFill>
          <a:ln cap="flat" cmpd="sng" w="9525">
            <a:solidFill>
              <a:srgbClr val="2828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6492240" y="1261872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B08EFF"/>
                </a:solidFill>
                <a:latin typeface="Calibri"/>
                <a:ea typeface="Calibri"/>
                <a:cs typeface="Calibri"/>
                <a:sym typeface="Calibri"/>
              </a:rPr>
              <a:t>La situación actual genera</a:t>
            </a:r>
            <a:endParaRPr/>
          </a:p>
        </p:txBody>
      </p:sp>
      <p:sp>
        <p:nvSpPr>
          <p:cNvPr id="100" name="Google Shape;100;p2"/>
          <p:cNvSpPr/>
          <p:nvPr/>
        </p:nvSpPr>
        <p:spPr>
          <a:xfrm>
            <a:off x="6446520" y="1901952"/>
            <a:ext cx="100584" cy="100584"/>
          </a:xfrm>
          <a:prstGeom prst="ellipse">
            <a:avLst/>
          </a:prstGeom>
          <a:solidFill>
            <a:srgbClr val="B08E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6675120" y="1771575"/>
            <a:ext cx="4846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Chats acumulados sin revisar (hasta 30 los fines de semana)</a:t>
            </a:r>
            <a:endParaRPr/>
          </a:p>
        </p:txBody>
      </p:sp>
      <p:sp>
        <p:nvSpPr>
          <p:cNvPr id="102" name="Google Shape;102;p2"/>
          <p:cNvSpPr/>
          <p:nvPr/>
        </p:nvSpPr>
        <p:spPr>
          <a:xfrm>
            <a:off x="6446520" y="2606040"/>
            <a:ext cx="100584" cy="100584"/>
          </a:xfrm>
          <a:prstGeom prst="ellipse">
            <a:avLst/>
          </a:prstGeom>
          <a:solidFill>
            <a:srgbClr val="B08E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6675120" y="2475664"/>
            <a:ext cx="4846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Asistente dividida entre atención presencial y digital</a:t>
            </a:r>
            <a:endParaRPr/>
          </a:p>
        </p:txBody>
      </p:sp>
      <p:sp>
        <p:nvSpPr>
          <p:cNvPr id="104" name="Google Shape;104;p2"/>
          <p:cNvSpPr/>
          <p:nvPr/>
        </p:nvSpPr>
        <p:spPr>
          <a:xfrm>
            <a:off x="6446520" y="3310128"/>
            <a:ext cx="100584" cy="100584"/>
          </a:xfrm>
          <a:prstGeom prst="ellipse">
            <a:avLst/>
          </a:prstGeom>
          <a:solidFill>
            <a:srgbClr val="B08E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6675120" y="3179752"/>
            <a:ext cx="4846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 números de WhatsApp sin vista unificada</a:t>
            </a:r>
            <a:endParaRPr/>
          </a:p>
        </p:txBody>
      </p:sp>
      <p:sp>
        <p:nvSpPr>
          <p:cNvPr id="106" name="Google Shape;106;p2"/>
          <p:cNvSpPr/>
          <p:nvPr/>
        </p:nvSpPr>
        <p:spPr>
          <a:xfrm>
            <a:off x="6446520" y="4014216"/>
            <a:ext cx="100584" cy="100584"/>
          </a:xfrm>
          <a:prstGeom prst="ellipse">
            <a:avLst/>
          </a:prstGeom>
          <a:solidFill>
            <a:srgbClr val="B08E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6675120" y="3883840"/>
            <a:ext cx="4846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Pacientes que no reciben respuesta oportuna y se van</a:t>
            </a:r>
            <a:endParaRPr/>
          </a:p>
        </p:txBody>
      </p:sp>
      <p:sp>
        <p:nvSpPr>
          <p:cNvPr id="108" name="Google Shape;108;p2"/>
          <p:cNvSpPr/>
          <p:nvPr/>
        </p:nvSpPr>
        <p:spPr>
          <a:xfrm>
            <a:off x="6446520" y="4718304"/>
            <a:ext cx="100584" cy="100584"/>
          </a:xfrm>
          <a:prstGeom prst="ellipse">
            <a:avLst/>
          </a:prstGeom>
          <a:solidFill>
            <a:srgbClr val="B08E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"/>
          <p:cNvSpPr txBox="1"/>
          <p:nvPr/>
        </p:nvSpPr>
        <p:spPr>
          <a:xfrm>
            <a:off x="6675120" y="4587928"/>
            <a:ext cx="4846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Agenda no automatizada, dependiente de gestión manual</a:t>
            </a:r>
            <a:endParaRPr/>
          </a:p>
        </p:txBody>
      </p:sp>
      <p:sp>
        <p:nvSpPr>
          <p:cNvPr id="110" name="Google Shape;110;p2"/>
          <p:cNvSpPr/>
          <p:nvPr/>
        </p:nvSpPr>
        <p:spPr>
          <a:xfrm>
            <a:off x="6446520" y="5422392"/>
            <a:ext cx="100584" cy="100584"/>
          </a:xfrm>
          <a:prstGeom prst="ellipse">
            <a:avLst/>
          </a:prstGeom>
          <a:solidFill>
            <a:srgbClr val="B08E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6675120" y="5292015"/>
            <a:ext cx="4846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Sin trazabilidad del recorrido completo del paciente</a:t>
            </a:r>
            <a:endParaRPr/>
          </a:p>
        </p:txBody>
      </p:sp>
      <p:sp>
        <p:nvSpPr>
          <p:cNvPr id="112" name="Google Shape;112;p2"/>
          <p:cNvSpPr txBox="1"/>
          <p:nvPr/>
        </p:nvSpPr>
        <p:spPr>
          <a:xfrm>
            <a:off x="685738" y="4114797"/>
            <a:ext cx="4755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B08EFF"/>
                </a:solidFill>
                <a:latin typeface="Calibri"/>
                <a:ea typeface="Calibri"/>
                <a:cs typeface="Calibri"/>
                <a:sym typeface="Calibri"/>
              </a:rPr>
              <a:t>Nuestro propósito</a:t>
            </a:r>
            <a:endParaRPr/>
          </a:p>
        </p:txBody>
      </p:sp>
      <p:sp>
        <p:nvSpPr>
          <p:cNvPr id="113" name="Google Shape;113;p2"/>
          <p:cNvSpPr txBox="1"/>
          <p:nvPr/>
        </p:nvSpPr>
        <p:spPr>
          <a:xfrm>
            <a:off x="669492" y="4491555"/>
            <a:ext cx="4846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D4E8FF"/>
                </a:solidFill>
                <a:latin typeface="Calibri"/>
                <a:ea typeface="Calibri"/>
                <a:cs typeface="Calibri"/>
                <a:sym typeface="Calibri"/>
              </a:rPr>
              <a:t>Desarrollar una solución a medida con Sistemas Inteligentes que resuelva cada uno de estos problemas.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"/>
          <p:cNvSpPr txBox="1"/>
          <p:nvPr/>
        </p:nvSpPr>
        <p:spPr>
          <a:xfrm>
            <a:off x="457200" y="256025"/>
            <a:ext cx="70092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Contexto </a:t>
            </a:r>
            <a:r>
              <a:rPr b="1" lang="en-US" sz="3600">
                <a:solidFill>
                  <a:srgbClr val="B08EFF"/>
                </a:solidFill>
                <a:latin typeface="Calibri"/>
                <a:ea typeface="Calibri"/>
                <a:cs typeface="Calibri"/>
                <a:sym typeface="Calibri"/>
              </a:rPr>
              <a:t>Operativo Actual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/>
          <p:nvPr/>
        </p:nvSpPr>
        <p:spPr>
          <a:xfrm>
            <a:off x="365760" y="1188720"/>
            <a:ext cx="3703320" cy="2377440"/>
          </a:xfrm>
          <a:prstGeom prst="rect">
            <a:avLst/>
          </a:prstGeom>
          <a:solidFill>
            <a:srgbClr val="101022"/>
          </a:solidFill>
          <a:ln cap="flat" cmpd="sng" w="9525">
            <a:solidFill>
              <a:srgbClr val="2828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365760" y="1188720"/>
            <a:ext cx="3703320" cy="54864"/>
          </a:xfrm>
          <a:prstGeom prst="rect">
            <a:avLst/>
          </a:prstGeom>
          <a:solidFill>
            <a:srgbClr val="B08E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"/>
          <p:cNvSpPr txBox="1"/>
          <p:nvPr/>
        </p:nvSpPr>
        <p:spPr>
          <a:xfrm>
            <a:off x="530352" y="1335024"/>
            <a:ext cx="32918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B08EFF"/>
                </a:solidFill>
                <a:latin typeface="Calibri"/>
                <a:ea typeface="Calibri"/>
                <a:cs typeface="Calibri"/>
                <a:sym typeface="Calibri"/>
              </a:rPr>
              <a:t>2 sedes en Cali</a:t>
            </a:r>
            <a:endParaRPr/>
          </a:p>
        </p:txBody>
      </p:sp>
      <p:sp>
        <p:nvSpPr>
          <p:cNvPr id="122" name="Google Shape;122;p3"/>
          <p:cNvSpPr txBox="1"/>
          <p:nvPr/>
        </p:nvSpPr>
        <p:spPr>
          <a:xfrm>
            <a:off x="530352" y="1847088"/>
            <a:ext cx="32919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4E8FF"/>
                </a:solidFill>
                <a:latin typeface="Calibri"/>
                <a:ea typeface="Calibri"/>
                <a:cs typeface="Calibri"/>
                <a:sym typeface="Calibri"/>
              </a:rPr>
              <a:t>Norte y sur, con agenda segmentada por sede, especialista y tipo de procedimiento.</a:t>
            </a:r>
            <a:endParaRPr sz="1600"/>
          </a:p>
        </p:txBody>
      </p:sp>
      <p:sp>
        <p:nvSpPr>
          <p:cNvPr id="123" name="Google Shape;123;p3"/>
          <p:cNvSpPr/>
          <p:nvPr/>
        </p:nvSpPr>
        <p:spPr>
          <a:xfrm>
            <a:off x="4297680" y="1188720"/>
            <a:ext cx="3703320" cy="2377440"/>
          </a:xfrm>
          <a:prstGeom prst="rect">
            <a:avLst/>
          </a:prstGeom>
          <a:solidFill>
            <a:srgbClr val="101022"/>
          </a:solidFill>
          <a:ln cap="flat" cmpd="sng" w="9525">
            <a:solidFill>
              <a:srgbClr val="2828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4297680" y="1188720"/>
            <a:ext cx="3703320" cy="54864"/>
          </a:xfrm>
          <a:prstGeom prst="rect">
            <a:avLst/>
          </a:prstGeom>
          <a:solidFill>
            <a:srgbClr val="B08E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"/>
          <p:cNvSpPr txBox="1"/>
          <p:nvPr/>
        </p:nvSpPr>
        <p:spPr>
          <a:xfrm>
            <a:off x="4462272" y="1335024"/>
            <a:ext cx="32918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B08EFF"/>
                </a:solidFill>
                <a:latin typeface="Calibri"/>
                <a:ea typeface="Calibri"/>
                <a:cs typeface="Calibri"/>
                <a:sym typeface="Calibri"/>
              </a:rPr>
              <a:t>70% por WhatsApp</a:t>
            </a:r>
            <a:endParaRPr/>
          </a:p>
        </p:txBody>
      </p:sp>
      <p:sp>
        <p:nvSpPr>
          <p:cNvPr id="126" name="Google Shape;126;p3"/>
          <p:cNvSpPr txBox="1"/>
          <p:nvPr/>
        </p:nvSpPr>
        <p:spPr>
          <a:xfrm>
            <a:off x="4462272" y="1847088"/>
            <a:ext cx="32919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4E8FF"/>
                </a:solidFill>
                <a:latin typeface="Calibri"/>
                <a:ea typeface="Calibri"/>
                <a:cs typeface="Calibri"/>
                <a:sym typeface="Calibri"/>
              </a:rPr>
              <a:t>Dos números activos: uno de captación y uno de confirmación, sin vista unificada.</a:t>
            </a:r>
            <a:endParaRPr sz="1600"/>
          </a:p>
        </p:txBody>
      </p:sp>
      <p:sp>
        <p:nvSpPr>
          <p:cNvPr id="127" name="Google Shape;127;p3"/>
          <p:cNvSpPr/>
          <p:nvPr/>
        </p:nvSpPr>
        <p:spPr>
          <a:xfrm>
            <a:off x="8229600" y="1188720"/>
            <a:ext cx="3703320" cy="2377440"/>
          </a:xfrm>
          <a:prstGeom prst="rect">
            <a:avLst/>
          </a:prstGeom>
          <a:solidFill>
            <a:srgbClr val="101022"/>
          </a:solidFill>
          <a:ln cap="flat" cmpd="sng" w="9525">
            <a:solidFill>
              <a:srgbClr val="2828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8229600" y="1188720"/>
            <a:ext cx="3703320" cy="54864"/>
          </a:xfrm>
          <a:prstGeom prst="rect">
            <a:avLst/>
          </a:prstGeom>
          <a:solidFill>
            <a:srgbClr val="B08E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3"/>
          <p:cNvSpPr txBox="1"/>
          <p:nvPr/>
        </p:nvSpPr>
        <p:spPr>
          <a:xfrm>
            <a:off x="8394192" y="1335024"/>
            <a:ext cx="32918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B08EFF"/>
                </a:solidFill>
                <a:latin typeface="Calibri"/>
                <a:ea typeface="Calibri"/>
                <a:cs typeface="Calibri"/>
                <a:sym typeface="Calibri"/>
              </a:rPr>
              <a:t>20% llamadas</a:t>
            </a:r>
            <a:endParaRPr/>
          </a:p>
        </p:txBody>
      </p:sp>
      <p:sp>
        <p:nvSpPr>
          <p:cNvPr id="130" name="Google Shape;130;p3"/>
          <p:cNvSpPr txBox="1"/>
          <p:nvPr/>
        </p:nvSpPr>
        <p:spPr>
          <a:xfrm>
            <a:off x="8394192" y="1847088"/>
            <a:ext cx="3291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4E8FF"/>
                </a:solidFill>
                <a:latin typeface="Calibri"/>
                <a:ea typeface="Calibri"/>
                <a:cs typeface="Calibri"/>
                <a:sym typeface="Calibri"/>
              </a:rPr>
              <a:t>Celular y WhatsApp. El 10% restante entra por teléfono fijo.</a:t>
            </a:r>
            <a:endParaRPr sz="1600"/>
          </a:p>
        </p:txBody>
      </p:sp>
      <p:sp>
        <p:nvSpPr>
          <p:cNvPr id="131" name="Google Shape;131;p3"/>
          <p:cNvSpPr/>
          <p:nvPr/>
        </p:nvSpPr>
        <p:spPr>
          <a:xfrm>
            <a:off x="365760" y="3794760"/>
            <a:ext cx="3703320" cy="2377440"/>
          </a:xfrm>
          <a:prstGeom prst="rect">
            <a:avLst/>
          </a:prstGeom>
          <a:solidFill>
            <a:srgbClr val="101022"/>
          </a:solidFill>
          <a:ln cap="flat" cmpd="sng" w="9525">
            <a:solidFill>
              <a:srgbClr val="2828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3"/>
          <p:cNvSpPr/>
          <p:nvPr/>
        </p:nvSpPr>
        <p:spPr>
          <a:xfrm>
            <a:off x="365760" y="3794760"/>
            <a:ext cx="3703320" cy="54864"/>
          </a:xfrm>
          <a:prstGeom prst="rect">
            <a:avLst/>
          </a:prstGeom>
          <a:solidFill>
            <a:srgbClr val="B08E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3"/>
          <p:cNvSpPr txBox="1"/>
          <p:nvPr/>
        </p:nvSpPr>
        <p:spPr>
          <a:xfrm>
            <a:off x="530352" y="3941064"/>
            <a:ext cx="32918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B08EFF"/>
                </a:solidFill>
                <a:latin typeface="Calibri"/>
                <a:ea typeface="Calibri"/>
                <a:cs typeface="Calibri"/>
                <a:sym typeface="Calibri"/>
              </a:rPr>
              <a:t>Sunube como eje</a:t>
            </a:r>
            <a:endParaRPr/>
          </a:p>
        </p:txBody>
      </p:sp>
      <p:sp>
        <p:nvSpPr>
          <p:cNvPr id="134" name="Google Shape;134;p3"/>
          <p:cNvSpPr txBox="1"/>
          <p:nvPr/>
        </p:nvSpPr>
        <p:spPr>
          <a:xfrm>
            <a:off x="530352" y="4453128"/>
            <a:ext cx="32919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4E8FF"/>
                </a:solidFill>
                <a:latin typeface="Calibri"/>
                <a:ea typeface="Calibri"/>
                <a:cs typeface="Calibri"/>
                <a:sym typeface="Calibri"/>
              </a:rPr>
              <a:t>El historial clínico y el agendamiento formal viven en Sunube. La solución debe conectarse ahí.</a:t>
            </a:r>
            <a:endParaRPr sz="1600"/>
          </a:p>
        </p:txBody>
      </p:sp>
      <p:sp>
        <p:nvSpPr>
          <p:cNvPr id="135" name="Google Shape;135;p3"/>
          <p:cNvSpPr/>
          <p:nvPr/>
        </p:nvSpPr>
        <p:spPr>
          <a:xfrm>
            <a:off x="4297680" y="3794760"/>
            <a:ext cx="3703320" cy="2377440"/>
          </a:xfrm>
          <a:prstGeom prst="rect">
            <a:avLst/>
          </a:prstGeom>
          <a:solidFill>
            <a:srgbClr val="101022"/>
          </a:solidFill>
          <a:ln cap="flat" cmpd="sng" w="9525">
            <a:solidFill>
              <a:srgbClr val="2828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3"/>
          <p:cNvSpPr/>
          <p:nvPr/>
        </p:nvSpPr>
        <p:spPr>
          <a:xfrm>
            <a:off x="4297680" y="3794760"/>
            <a:ext cx="3703320" cy="54864"/>
          </a:xfrm>
          <a:prstGeom prst="rect">
            <a:avLst/>
          </a:prstGeom>
          <a:solidFill>
            <a:srgbClr val="B08E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3"/>
          <p:cNvSpPr txBox="1"/>
          <p:nvPr/>
        </p:nvSpPr>
        <p:spPr>
          <a:xfrm>
            <a:off x="4462272" y="3941064"/>
            <a:ext cx="32918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B08EFF"/>
                </a:solidFill>
                <a:latin typeface="Calibri"/>
                <a:ea typeface="Calibri"/>
                <a:cs typeface="Calibri"/>
                <a:sym typeface="Calibri"/>
              </a:rPr>
              <a:t>Asistente desbordada</a:t>
            </a:r>
            <a:endParaRPr/>
          </a:p>
        </p:txBody>
      </p:sp>
      <p:sp>
        <p:nvSpPr>
          <p:cNvPr id="138" name="Google Shape;138;p3"/>
          <p:cNvSpPr txBox="1"/>
          <p:nvPr/>
        </p:nvSpPr>
        <p:spPr>
          <a:xfrm>
            <a:off x="4462272" y="4453128"/>
            <a:ext cx="32919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4E8FF"/>
                </a:solidFill>
                <a:latin typeface="Calibri"/>
                <a:ea typeface="Calibri"/>
                <a:cs typeface="Calibri"/>
                <a:sym typeface="Calibri"/>
              </a:rPr>
              <a:t>Atención presencial + dos celulares + respuestas = cuello de botella permanente.</a:t>
            </a:r>
            <a:endParaRPr sz="1600"/>
          </a:p>
        </p:txBody>
      </p:sp>
      <p:sp>
        <p:nvSpPr>
          <p:cNvPr id="139" name="Google Shape;139;p3"/>
          <p:cNvSpPr/>
          <p:nvPr/>
        </p:nvSpPr>
        <p:spPr>
          <a:xfrm>
            <a:off x="8229600" y="3794760"/>
            <a:ext cx="3703320" cy="2377440"/>
          </a:xfrm>
          <a:prstGeom prst="rect">
            <a:avLst/>
          </a:prstGeom>
          <a:solidFill>
            <a:srgbClr val="101022"/>
          </a:solidFill>
          <a:ln cap="flat" cmpd="sng" w="9525">
            <a:solidFill>
              <a:srgbClr val="2828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3"/>
          <p:cNvSpPr/>
          <p:nvPr/>
        </p:nvSpPr>
        <p:spPr>
          <a:xfrm>
            <a:off x="8229600" y="3794760"/>
            <a:ext cx="3703320" cy="54864"/>
          </a:xfrm>
          <a:prstGeom prst="rect">
            <a:avLst/>
          </a:prstGeom>
          <a:solidFill>
            <a:srgbClr val="B08E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3"/>
          <p:cNvSpPr txBox="1"/>
          <p:nvPr/>
        </p:nvSpPr>
        <p:spPr>
          <a:xfrm>
            <a:off x="8394192" y="3941064"/>
            <a:ext cx="32918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B08EFF"/>
                </a:solidFill>
                <a:latin typeface="Calibri"/>
                <a:ea typeface="Calibri"/>
                <a:cs typeface="Calibri"/>
                <a:sym typeface="Calibri"/>
              </a:rPr>
              <a:t>Sin dashboard unificado</a:t>
            </a:r>
            <a:endParaRPr/>
          </a:p>
        </p:txBody>
      </p:sp>
      <p:sp>
        <p:nvSpPr>
          <p:cNvPr id="142" name="Google Shape;142;p3"/>
          <p:cNvSpPr txBox="1"/>
          <p:nvPr/>
        </p:nvSpPr>
        <p:spPr>
          <a:xfrm>
            <a:off x="8394192" y="4453128"/>
            <a:ext cx="32919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4E8FF"/>
                </a:solidFill>
                <a:latin typeface="Calibri"/>
                <a:ea typeface="Calibri"/>
                <a:cs typeface="Calibri"/>
                <a:sym typeface="Calibri"/>
              </a:rPr>
              <a:t>Los contactos quedan flotando en WhatsApp sin entrar a un sistema estructurado.</a:t>
            </a:r>
            <a:endParaRPr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"/>
          <p:cNvSpPr txBox="1"/>
          <p:nvPr/>
        </p:nvSpPr>
        <p:spPr>
          <a:xfrm>
            <a:off x="457200" y="256032"/>
            <a:ext cx="1371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4"/>
          <p:cNvSpPr txBox="1"/>
          <p:nvPr/>
        </p:nvSpPr>
        <p:spPr>
          <a:xfrm>
            <a:off x="320045" y="231332"/>
            <a:ext cx="457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 </a:t>
            </a:r>
            <a:r>
              <a:rPr b="1" i="0" lang="en-US" sz="3600" u="none" cap="none" strike="noStrike">
                <a:solidFill>
                  <a:srgbClr val="B08EFF"/>
                </a:solidFill>
                <a:latin typeface="Calibri"/>
                <a:ea typeface="Calibri"/>
                <a:cs typeface="Calibri"/>
                <a:sym typeface="Calibri"/>
              </a:rPr>
              <a:t>Solución </a:t>
            </a:r>
            <a:r>
              <a:rPr b="1" lang="en-US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— 8 Pilares</a:t>
            </a:r>
            <a:endParaRPr b="1" sz="3600">
              <a:solidFill>
                <a:srgbClr val="B08E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 txBox="1"/>
          <p:nvPr/>
        </p:nvSpPr>
        <p:spPr>
          <a:xfrm>
            <a:off x="5029200" y="256032"/>
            <a:ext cx="5486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4"/>
          <p:cNvSpPr/>
          <p:nvPr/>
        </p:nvSpPr>
        <p:spPr>
          <a:xfrm>
            <a:off x="320040" y="1115568"/>
            <a:ext cx="2743200" cy="2395728"/>
          </a:xfrm>
          <a:prstGeom prst="rect">
            <a:avLst/>
          </a:prstGeom>
          <a:solidFill>
            <a:srgbClr val="101022"/>
          </a:solidFill>
          <a:ln cap="flat" cmpd="sng" w="9525">
            <a:solidFill>
              <a:srgbClr val="2828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320040" y="1115568"/>
            <a:ext cx="2743200" cy="54864"/>
          </a:xfrm>
          <a:prstGeom prst="rect">
            <a:avLst/>
          </a:prstGeom>
          <a:solidFill>
            <a:srgbClr val="B08E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4"/>
          <p:cNvSpPr txBox="1"/>
          <p:nvPr/>
        </p:nvSpPr>
        <p:spPr>
          <a:xfrm>
            <a:off x="457200" y="1243584"/>
            <a:ext cx="2469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B08EFF"/>
                </a:solidFill>
                <a:latin typeface="Calibri"/>
                <a:ea typeface="Calibri"/>
                <a:cs typeface="Calibri"/>
                <a:sym typeface="Calibri"/>
              </a:rPr>
              <a:t>P1 · Agente WhatsApp 24/7</a:t>
            </a:r>
            <a:endParaRPr sz="1600"/>
          </a:p>
        </p:txBody>
      </p:sp>
      <p:sp>
        <p:nvSpPr>
          <p:cNvPr id="153" name="Google Shape;153;p4"/>
          <p:cNvSpPr txBox="1"/>
          <p:nvPr/>
        </p:nvSpPr>
        <p:spPr>
          <a:xfrm>
            <a:off x="457200" y="1801368"/>
            <a:ext cx="24690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4E8FF"/>
                </a:solidFill>
                <a:latin typeface="Calibri"/>
                <a:ea typeface="Calibri"/>
                <a:cs typeface="Calibri"/>
                <a:sym typeface="Calibri"/>
              </a:rPr>
              <a:t>Responde inmediatamente, da bienvenida, clasifica motivo, identifica sede y filtra antes de pasar a humano.</a:t>
            </a:r>
            <a:endParaRPr sz="1700"/>
          </a:p>
        </p:txBody>
      </p:sp>
      <p:sp>
        <p:nvSpPr>
          <p:cNvPr id="154" name="Google Shape;154;p4"/>
          <p:cNvSpPr/>
          <p:nvPr/>
        </p:nvSpPr>
        <p:spPr>
          <a:xfrm>
            <a:off x="3218688" y="1115568"/>
            <a:ext cx="2743200" cy="2395728"/>
          </a:xfrm>
          <a:prstGeom prst="rect">
            <a:avLst/>
          </a:prstGeom>
          <a:solidFill>
            <a:srgbClr val="101022"/>
          </a:solidFill>
          <a:ln cap="flat" cmpd="sng" w="9525">
            <a:solidFill>
              <a:srgbClr val="2828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3218688" y="1115568"/>
            <a:ext cx="2743200" cy="54864"/>
          </a:xfrm>
          <a:prstGeom prst="rect">
            <a:avLst/>
          </a:prstGeom>
          <a:solidFill>
            <a:srgbClr val="B08E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4"/>
          <p:cNvSpPr txBox="1"/>
          <p:nvPr/>
        </p:nvSpPr>
        <p:spPr>
          <a:xfrm>
            <a:off x="3355848" y="1243584"/>
            <a:ext cx="2469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B08EFF"/>
                </a:solidFill>
                <a:latin typeface="Calibri"/>
                <a:ea typeface="Calibri"/>
                <a:cs typeface="Calibri"/>
                <a:sym typeface="Calibri"/>
              </a:rPr>
              <a:t>P2 · Canales Unificados</a:t>
            </a:r>
            <a:endParaRPr sz="1600"/>
          </a:p>
        </p:txBody>
      </p:sp>
      <p:sp>
        <p:nvSpPr>
          <p:cNvPr id="157" name="Google Shape;157;p4"/>
          <p:cNvSpPr txBox="1"/>
          <p:nvPr/>
        </p:nvSpPr>
        <p:spPr>
          <a:xfrm>
            <a:off x="3355848" y="1801368"/>
            <a:ext cx="2469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4E8FF"/>
                </a:solidFill>
                <a:latin typeface="Calibri"/>
                <a:ea typeface="Calibri"/>
                <a:cs typeface="Calibri"/>
                <a:sym typeface="Calibri"/>
              </a:rPr>
              <a:t>Ambos números operan bajo la misma lógica. Historial centralizado y vista unificada de conversaciones.</a:t>
            </a:r>
            <a:endParaRPr sz="1700"/>
          </a:p>
        </p:txBody>
      </p:sp>
      <p:sp>
        <p:nvSpPr>
          <p:cNvPr id="158" name="Google Shape;158;p4"/>
          <p:cNvSpPr/>
          <p:nvPr/>
        </p:nvSpPr>
        <p:spPr>
          <a:xfrm>
            <a:off x="6117336" y="1115568"/>
            <a:ext cx="2743200" cy="2395728"/>
          </a:xfrm>
          <a:prstGeom prst="rect">
            <a:avLst/>
          </a:prstGeom>
          <a:solidFill>
            <a:srgbClr val="101022"/>
          </a:solidFill>
          <a:ln cap="flat" cmpd="sng" w="9525">
            <a:solidFill>
              <a:srgbClr val="2828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4"/>
          <p:cNvSpPr/>
          <p:nvPr/>
        </p:nvSpPr>
        <p:spPr>
          <a:xfrm>
            <a:off x="6117336" y="1115568"/>
            <a:ext cx="2743200" cy="54864"/>
          </a:xfrm>
          <a:prstGeom prst="rect">
            <a:avLst/>
          </a:prstGeom>
          <a:solidFill>
            <a:srgbClr val="B08E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4"/>
          <p:cNvSpPr txBox="1"/>
          <p:nvPr/>
        </p:nvSpPr>
        <p:spPr>
          <a:xfrm>
            <a:off x="6254496" y="1243584"/>
            <a:ext cx="2469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B08EFF"/>
                </a:solidFill>
                <a:latin typeface="Calibri"/>
                <a:ea typeface="Calibri"/>
                <a:cs typeface="Calibri"/>
                <a:sym typeface="Calibri"/>
              </a:rPr>
              <a:t>P3 · Clasificación y Enrutamiento</a:t>
            </a:r>
            <a:endParaRPr sz="1600"/>
          </a:p>
        </p:txBody>
      </p:sp>
      <p:sp>
        <p:nvSpPr>
          <p:cNvPr id="161" name="Google Shape;161;p4"/>
          <p:cNvSpPr txBox="1"/>
          <p:nvPr/>
        </p:nvSpPr>
        <p:spPr>
          <a:xfrm>
            <a:off x="6254496" y="1801368"/>
            <a:ext cx="2469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4E8FF"/>
                </a:solidFill>
                <a:latin typeface="Calibri"/>
                <a:ea typeface="Calibri"/>
                <a:cs typeface="Calibri"/>
                <a:sym typeface="Calibri"/>
              </a:rPr>
              <a:t>Detecta motivo, sede y tipo de cita. Dirige al flujo correcto según especialista o procedimiento.</a:t>
            </a:r>
            <a:endParaRPr sz="1700"/>
          </a:p>
        </p:txBody>
      </p:sp>
      <p:sp>
        <p:nvSpPr>
          <p:cNvPr id="162" name="Google Shape;162;p4"/>
          <p:cNvSpPr/>
          <p:nvPr/>
        </p:nvSpPr>
        <p:spPr>
          <a:xfrm>
            <a:off x="9015984" y="1115568"/>
            <a:ext cx="2743200" cy="2395728"/>
          </a:xfrm>
          <a:prstGeom prst="rect">
            <a:avLst/>
          </a:prstGeom>
          <a:solidFill>
            <a:srgbClr val="101022"/>
          </a:solidFill>
          <a:ln cap="flat" cmpd="sng" w="9525">
            <a:solidFill>
              <a:srgbClr val="2828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4"/>
          <p:cNvSpPr/>
          <p:nvPr/>
        </p:nvSpPr>
        <p:spPr>
          <a:xfrm>
            <a:off x="9015984" y="1115568"/>
            <a:ext cx="2743200" cy="54864"/>
          </a:xfrm>
          <a:prstGeom prst="rect">
            <a:avLst/>
          </a:prstGeom>
          <a:solidFill>
            <a:srgbClr val="B08E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4"/>
          <p:cNvSpPr txBox="1"/>
          <p:nvPr/>
        </p:nvSpPr>
        <p:spPr>
          <a:xfrm>
            <a:off x="9153144" y="1243584"/>
            <a:ext cx="2469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B08EFF"/>
                </a:solidFill>
                <a:latin typeface="Calibri"/>
                <a:ea typeface="Calibri"/>
                <a:cs typeface="Calibri"/>
                <a:sym typeface="Calibri"/>
              </a:rPr>
              <a:t>P4 · Integración Sunube</a:t>
            </a:r>
            <a:endParaRPr sz="1600"/>
          </a:p>
        </p:txBody>
      </p:sp>
      <p:sp>
        <p:nvSpPr>
          <p:cNvPr id="165" name="Google Shape;165;p4"/>
          <p:cNvSpPr txBox="1"/>
          <p:nvPr/>
        </p:nvSpPr>
        <p:spPr>
          <a:xfrm>
            <a:off x="9153144" y="1801368"/>
            <a:ext cx="2469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4E8FF"/>
                </a:solidFill>
                <a:latin typeface="Calibri"/>
                <a:ea typeface="Calibri"/>
                <a:cs typeface="Calibri"/>
                <a:sym typeface="Calibri"/>
              </a:rPr>
              <a:t>Conecta disponibilidad real de agenda. Evita doble digitación y cumple el requisito clínico y legal.</a:t>
            </a:r>
            <a:endParaRPr sz="1700"/>
          </a:p>
        </p:txBody>
      </p:sp>
      <p:sp>
        <p:nvSpPr>
          <p:cNvPr id="166" name="Google Shape;166;p4"/>
          <p:cNvSpPr/>
          <p:nvPr/>
        </p:nvSpPr>
        <p:spPr>
          <a:xfrm>
            <a:off x="320040" y="3749039"/>
            <a:ext cx="2743200" cy="2395728"/>
          </a:xfrm>
          <a:prstGeom prst="rect">
            <a:avLst/>
          </a:prstGeom>
          <a:solidFill>
            <a:srgbClr val="101022"/>
          </a:solidFill>
          <a:ln cap="flat" cmpd="sng" w="9525">
            <a:solidFill>
              <a:srgbClr val="2828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4"/>
          <p:cNvSpPr/>
          <p:nvPr/>
        </p:nvSpPr>
        <p:spPr>
          <a:xfrm>
            <a:off x="320040" y="3749039"/>
            <a:ext cx="2743200" cy="54864"/>
          </a:xfrm>
          <a:prstGeom prst="rect">
            <a:avLst/>
          </a:prstGeom>
          <a:solidFill>
            <a:srgbClr val="B08E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4"/>
          <p:cNvSpPr txBox="1"/>
          <p:nvPr/>
        </p:nvSpPr>
        <p:spPr>
          <a:xfrm>
            <a:off x="457200" y="3877055"/>
            <a:ext cx="2469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B08EFF"/>
                </a:solidFill>
                <a:latin typeface="Calibri"/>
                <a:ea typeface="Calibri"/>
                <a:cs typeface="Calibri"/>
                <a:sym typeface="Calibri"/>
              </a:rPr>
              <a:t>P5 · Confirmaciones y Recordatorios</a:t>
            </a:r>
            <a:endParaRPr sz="1600"/>
          </a:p>
        </p:txBody>
      </p:sp>
      <p:sp>
        <p:nvSpPr>
          <p:cNvPr id="169" name="Google Shape;169;p4"/>
          <p:cNvSpPr txBox="1"/>
          <p:nvPr/>
        </p:nvSpPr>
        <p:spPr>
          <a:xfrm>
            <a:off x="457200" y="4434840"/>
            <a:ext cx="24690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4E8FF"/>
                </a:solidFill>
                <a:latin typeface="Calibri"/>
                <a:ea typeface="Calibri"/>
                <a:cs typeface="Calibri"/>
                <a:sym typeface="Calibri"/>
              </a:rPr>
              <a:t>Secuencia a 72h, 24h y 2h antes. Confirmación, reagendamiento e instrucciones previas automáticas.</a:t>
            </a:r>
            <a:endParaRPr sz="1700"/>
          </a:p>
        </p:txBody>
      </p:sp>
      <p:sp>
        <p:nvSpPr>
          <p:cNvPr id="170" name="Google Shape;170;p4"/>
          <p:cNvSpPr/>
          <p:nvPr/>
        </p:nvSpPr>
        <p:spPr>
          <a:xfrm>
            <a:off x="3218688" y="3749039"/>
            <a:ext cx="2743200" cy="2395728"/>
          </a:xfrm>
          <a:prstGeom prst="rect">
            <a:avLst/>
          </a:prstGeom>
          <a:solidFill>
            <a:srgbClr val="101022"/>
          </a:solidFill>
          <a:ln cap="flat" cmpd="sng" w="9525">
            <a:solidFill>
              <a:srgbClr val="2828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4"/>
          <p:cNvSpPr/>
          <p:nvPr/>
        </p:nvSpPr>
        <p:spPr>
          <a:xfrm>
            <a:off x="3218688" y="3749039"/>
            <a:ext cx="2743200" cy="54864"/>
          </a:xfrm>
          <a:prstGeom prst="rect">
            <a:avLst/>
          </a:prstGeom>
          <a:solidFill>
            <a:srgbClr val="B08E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4"/>
          <p:cNvSpPr txBox="1"/>
          <p:nvPr/>
        </p:nvSpPr>
        <p:spPr>
          <a:xfrm>
            <a:off x="3355848" y="3877055"/>
            <a:ext cx="2469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B08EFF"/>
                </a:solidFill>
                <a:latin typeface="Calibri"/>
                <a:ea typeface="Calibri"/>
                <a:cs typeface="Calibri"/>
                <a:sym typeface="Calibri"/>
              </a:rPr>
              <a:t>P6 · Seguimiento Post Atención</a:t>
            </a:r>
            <a:endParaRPr sz="1600"/>
          </a:p>
        </p:txBody>
      </p:sp>
      <p:sp>
        <p:nvSpPr>
          <p:cNvPr id="173" name="Google Shape;173;p4"/>
          <p:cNvSpPr txBox="1"/>
          <p:nvPr/>
        </p:nvSpPr>
        <p:spPr>
          <a:xfrm>
            <a:off x="3355848" y="4434840"/>
            <a:ext cx="2469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4E8FF"/>
                </a:solidFill>
                <a:latin typeface="Calibri"/>
                <a:ea typeface="Calibri"/>
                <a:cs typeface="Calibri"/>
                <a:sym typeface="Calibri"/>
              </a:rPr>
              <a:t>Mensaje al día siguiente del procedimiento. Detecta incidencias y abre puerta a seguimiento clínico.</a:t>
            </a:r>
            <a:endParaRPr sz="1700"/>
          </a:p>
        </p:txBody>
      </p:sp>
      <p:sp>
        <p:nvSpPr>
          <p:cNvPr id="174" name="Google Shape;174;p4"/>
          <p:cNvSpPr/>
          <p:nvPr/>
        </p:nvSpPr>
        <p:spPr>
          <a:xfrm>
            <a:off x="6117336" y="3749039"/>
            <a:ext cx="2743200" cy="2395728"/>
          </a:xfrm>
          <a:prstGeom prst="rect">
            <a:avLst/>
          </a:prstGeom>
          <a:solidFill>
            <a:srgbClr val="101022"/>
          </a:solidFill>
          <a:ln cap="flat" cmpd="sng" w="9525">
            <a:solidFill>
              <a:srgbClr val="2828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4"/>
          <p:cNvSpPr/>
          <p:nvPr/>
        </p:nvSpPr>
        <p:spPr>
          <a:xfrm>
            <a:off x="6117336" y="3749039"/>
            <a:ext cx="2743200" cy="54864"/>
          </a:xfrm>
          <a:prstGeom prst="rect">
            <a:avLst/>
          </a:prstGeom>
          <a:solidFill>
            <a:srgbClr val="B08E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4"/>
          <p:cNvSpPr txBox="1"/>
          <p:nvPr/>
        </p:nvSpPr>
        <p:spPr>
          <a:xfrm>
            <a:off x="6254496" y="3877055"/>
            <a:ext cx="2469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B08EFF"/>
                </a:solidFill>
                <a:latin typeface="Calibri"/>
                <a:ea typeface="Calibri"/>
                <a:cs typeface="Calibri"/>
                <a:sym typeface="Calibri"/>
              </a:rPr>
              <a:t>P7 · Dashboard de Trazabilidad</a:t>
            </a:r>
            <a:endParaRPr sz="1600"/>
          </a:p>
        </p:txBody>
      </p:sp>
      <p:sp>
        <p:nvSpPr>
          <p:cNvPr id="177" name="Google Shape;177;p4"/>
          <p:cNvSpPr txBox="1"/>
          <p:nvPr/>
        </p:nvSpPr>
        <p:spPr>
          <a:xfrm>
            <a:off x="6254496" y="4434840"/>
            <a:ext cx="24690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4E8FF"/>
                </a:solidFill>
                <a:latin typeface="Calibri"/>
                <a:ea typeface="Calibri"/>
                <a:cs typeface="Calibri"/>
                <a:sym typeface="Calibri"/>
              </a:rPr>
              <a:t>Mensajes por canal, tiempos de respuesta, agendamientos, confirmaciones, no-show y conversaciones pendientes.</a:t>
            </a:r>
            <a:endParaRPr sz="1700"/>
          </a:p>
        </p:txBody>
      </p:sp>
      <p:sp>
        <p:nvSpPr>
          <p:cNvPr id="178" name="Google Shape;178;p4"/>
          <p:cNvSpPr/>
          <p:nvPr/>
        </p:nvSpPr>
        <p:spPr>
          <a:xfrm>
            <a:off x="9015984" y="3749039"/>
            <a:ext cx="2743200" cy="2395728"/>
          </a:xfrm>
          <a:prstGeom prst="rect">
            <a:avLst/>
          </a:prstGeom>
          <a:solidFill>
            <a:srgbClr val="101022"/>
          </a:solidFill>
          <a:ln cap="flat" cmpd="sng" w="9525">
            <a:solidFill>
              <a:srgbClr val="2828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4"/>
          <p:cNvSpPr/>
          <p:nvPr/>
        </p:nvSpPr>
        <p:spPr>
          <a:xfrm>
            <a:off x="9015984" y="3749039"/>
            <a:ext cx="2743200" cy="54864"/>
          </a:xfrm>
          <a:prstGeom prst="rect">
            <a:avLst/>
          </a:prstGeom>
          <a:solidFill>
            <a:srgbClr val="B08E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4"/>
          <p:cNvSpPr txBox="1"/>
          <p:nvPr/>
        </p:nvSpPr>
        <p:spPr>
          <a:xfrm>
            <a:off x="9153144" y="3877055"/>
            <a:ext cx="2469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B08EFF"/>
                </a:solidFill>
                <a:latin typeface="Calibri"/>
                <a:ea typeface="Calibri"/>
                <a:cs typeface="Calibri"/>
                <a:sym typeface="Calibri"/>
              </a:rPr>
              <a:t>P8 · Base Administrativa</a:t>
            </a:r>
            <a:endParaRPr sz="1600"/>
          </a:p>
        </p:txBody>
      </p:sp>
      <p:sp>
        <p:nvSpPr>
          <p:cNvPr id="181" name="Google Shape;181;p4"/>
          <p:cNvSpPr txBox="1"/>
          <p:nvPr/>
        </p:nvSpPr>
        <p:spPr>
          <a:xfrm>
            <a:off x="9153144" y="4434840"/>
            <a:ext cx="24690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4E8FF"/>
                </a:solidFill>
                <a:latin typeface="Calibri"/>
                <a:ea typeface="Calibri"/>
                <a:cs typeface="Calibri"/>
                <a:sym typeface="Calibri"/>
              </a:rPr>
              <a:t>Infraestructura lista para recordatorios de cobro, copagos, autorizaciones y tareas recurrentes de control.</a:t>
            </a:r>
            <a:endParaRPr sz="17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5"/>
          <p:cNvSpPr txBox="1"/>
          <p:nvPr/>
        </p:nvSpPr>
        <p:spPr>
          <a:xfrm>
            <a:off x="457200" y="201168"/>
            <a:ext cx="5029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Resultados </a:t>
            </a:r>
            <a:r>
              <a:rPr b="1" lang="en-US" sz="3400">
                <a:solidFill>
                  <a:srgbClr val="B08EFF"/>
                </a:solidFill>
                <a:latin typeface="Calibri"/>
                <a:ea typeface="Calibri"/>
                <a:cs typeface="Calibri"/>
                <a:sym typeface="Calibri"/>
              </a:rPr>
              <a:t>Esperados</a:t>
            </a: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187" name="Google Shape;187;p5"/>
          <p:cNvSpPr txBox="1"/>
          <p:nvPr/>
        </p:nvSpPr>
        <p:spPr>
          <a:xfrm>
            <a:off x="4617720" y="201168"/>
            <a:ext cx="5486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5"/>
          <p:cNvSpPr txBox="1"/>
          <p:nvPr/>
        </p:nvSpPr>
        <p:spPr>
          <a:xfrm>
            <a:off x="457200" y="804672"/>
            <a:ext cx="11430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Horizonte de impacto: 60–120 días (operativo) · 4–8 meses (madurez completa)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365760" y="1234440"/>
            <a:ext cx="2788920" cy="402336"/>
          </a:xfrm>
          <a:prstGeom prst="rect">
            <a:avLst/>
          </a:prstGeom>
          <a:solidFill>
            <a:srgbClr val="1A1A35"/>
          </a:solidFill>
          <a:ln cap="flat" cmpd="sng" w="9525">
            <a:solidFill>
              <a:srgbClr val="2828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5"/>
          <p:cNvSpPr txBox="1"/>
          <p:nvPr/>
        </p:nvSpPr>
        <p:spPr>
          <a:xfrm>
            <a:off x="457200" y="1271016"/>
            <a:ext cx="2651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B08EFF"/>
                </a:solidFill>
                <a:latin typeface="Calibri"/>
                <a:ea typeface="Calibri"/>
                <a:cs typeface="Calibri"/>
                <a:sym typeface="Calibri"/>
              </a:rPr>
              <a:t>Área de Impacto</a:t>
            </a:r>
            <a:endParaRPr/>
          </a:p>
        </p:txBody>
      </p:sp>
      <p:sp>
        <p:nvSpPr>
          <p:cNvPr id="191" name="Google Shape;191;p5"/>
          <p:cNvSpPr/>
          <p:nvPr/>
        </p:nvSpPr>
        <p:spPr>
          <a:xfrm>
            <a:off x="3246120" y="1234440"/>
            <a:ext cx="1965960" cy="402336"/>
          </a:xfrm>
          <a:prstGeom prst="rect">
            <a:avLst/>
          </a:prstGeom>
          <a:solidFill>
            <a:srgbClr val="1A1A35"/>
          </a:solidFill>
          <a:ln cap="flat" cmpd="sng" w="9525">
            <a:solidFill>
              <a:srgbClr val="2828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5"/>
          <p:cNvSpPr txBox="1"/>
          <p:nvPr/>
        </p:nvSpPr>
        <p:spPr>
          <a:xfrm>
            <a:off x="3337560" y="1271016"/>
            <a:ext cx="1828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B08EFF"/>
                </a:solidFill>
                <a:latin typeface="Calibri"/>
                <a:ea typeface="Calibri"/>
                <a:cs typeface="Calibri"/>
                <a:sym typeface="Calibri"/>
              </a:rPr>
              <a:t>Mejora Esperada</a:t>
            </a:r>
            <a:endParaRPr/>
          </a:p>
        </p:txBody>
      </p:sp>
      <p:sp>
        <p:nvSpPr>
          <p:cNvPr id="193" name="Google Shape;193;p5"/>
          <p:cNvSpPr/>
          <p:nvPr/>
        </p:nvSpPr>
        <p:spPr>
          <a:xfrm>
            <a:off x="5303520" y="1234440"/>
            <a:ext cx="4892040" cy="402336"/>
          </a:xfrm>
          <a:prstGeom prst="rect">
            <a:avLst/>
          </a:prstGeom>
          <a:solidFill>
            <a:srgbClr val="1A1A35"/>
          </a:solidFill>
          <a:ln cap="flat" cmpd="sng" w="9525">
            <a:solidFill>
              <a:srgbClr val="2828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5"/>
          <p:cNvSpPr txBox="1"/>
          <p:nvPr/>
        </p:nvSpPr>
        <p:spPr>
          <a:xfrm>
            <a:off x="5394959" y="1271016"/>
            <a:ext cx="47548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B08EFF"/>
                </a:solidFill>
                <a:latin typeface="Calibri"/>
                <a:ea typeface="Calibri"/>
                <a:cs typeface="Calibri"/>
                <a:sym typeface="Calibri"/>
              </a:rPr>
              <a:t>Resultado Concreto</a:t>
            </a:r>
            <a:endParaRPr/>
          </a:p>
        </p:txBody>
      </p:sp>
      <p:sp>
        <p:nvSpPr>
          <p:cNvPr id="195" name="Google Shape;195;p5"/>
          <p:cNvSpPr/>
          <p:nvPr/>
        </p:nvSpPr>
        <p:spPr>
          <a:xfrm>
            <a:off x="10314432" y="1234440"/>
            <a:ext cx="1691639" cy="402336"/>
          </a:xfrm>
          <a:prstGeom prst="rect">
            <a:avLst/>
          </a:prstGeom>
          <a:solidFill>
            <a:srgbClr val="1A1A35"/>
          </a:solidFill>
          <a:ln cap="flat" cmpd="sng" w="9525">
            <a:solidFill>
              <a:srgbClr val="2828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5"/>
          <p:cNvSpPr txBox="1"/>
          <p:nvPr/>
        </p:nvSpPr>
        <p:spPr>
          <a:xfrm>
            <a:off x="10405872" y="1271016"/>
            <a:ext cx="1554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B08EFF"/>
                </a:solidFill>
                <a:latin typeface="Calibri"/>
                <a:ea typeface="Calibri"/>
                <a:cs typeface="Calibri"/>
                <a:sym typeface="Calibri"/>
              </a:rPr>
              <a:t>Plazo</a:t>
            </a:r>
            <a:endParaRPr/>
          </a:p>
        </p:txBody>
      </p:sp>
      <p:sp>
        <p:nvSpPr>
          <p:cNvPr id="197" name="Google Shape;197;p5"/>
          <p:cNvSpPr/>
          <p:nvPr/>
        </p:nvSpPr>
        <p:spPr>
          <a:xfrm>
            <a:off x="365760" y="1682496"/>
            <a:ext cx="2788920" cy="640080"/>
          </a:xfrm>
          <a:prstGeom prst="rect">
            <a:avLst/>
          </a:prstGeom>
          <a:solidFill>
            <a:srgbClr val="0E0E1E"/>
          </a:solidFill>
          <a:ln cap="flat" cmpd="sng" w="9525">
            <a:solidFill>
              <a:srgbClr val="2828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5"/>
          <p:cNvSpPr txBox="1"/>
          <p:nvPr/>
        </p:nvSpPr>
        <p:spPr>
          <a:xfrm>
            <a:off x="457200" y="1755648"/>
            <a:ext cx="2651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Tiempo de primera respuesta</a:t>
            </a:r>
            <a:endParaRPr sz="1500"/>
          </a:p>
        </p:txBody>
      </p:sp>
      <p:sp>
        <p:nvSpPr>
          <p:cNvPr id="199" name="Google Shape;199;p5"/>
          <p:cNvSpPr/>
          <p:nvPr/>
        </p:nvSpPr>
        <p:spPr>
          <a:xfrm>
            <a:off x="3246120" y="1682496"/>
            <a:ext cx="1965960" cy="640080"/>
          </a:xfrm>
          <a:prstGeom prst="rect">
            <a:avLst/>
          </a:prstGeom>
          <a:solidFill>
            <a:srgbClr val="0E0E1E"/>
          </a:solidFill>
          <a:ln cap="flat" cmpd="sng" w="9525">
            <a:solidFill>
              <a:srgbClr val="2828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5"/>
          <p:cNvSpPr txBox="1"/>
          <p:nvPr/>
        </p:nvSpPr>
        <p:spPr>
          <a:xfrm>
            <a:off x="3337560" y="1755648"/>
            <a:ext cx="1828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08EFF"/>
                </a:solidFill>
                <a:latin typeface="Calibri"/>
                <a:ea typeface="Calibri"/>
                <a:cs typeface="Calibri"/>
                <a:sym typeface="Calibri"/>
              </a:rPr>
              <a:t>↓ 70%–90%</a:t>
            </a:r>
            <a:endParaRPr sz="1500"/>
          </a:p>
        </p:txBody>
      </p:sp>
      <p:sp>
        <p:nvSpPr>
          <p:cNvPr id="201" name="Google Shape;201;p5"/>
          <p:cNvSpPr/>
          <p:nvPr/>
        </p:nvSpPr>
        <p:spPr>
          <a:xfrm>
            <a:off x="5303520" y="1682496"/>
            <a:ext cx="4892040" cy="640080"/>
          </a:xfrm>
          <a:prstGeom prst="rect">
            <a:avLst/>
          </a:prstGeom>
          <a:solidFill>
            <a:srgbClr val="0E0E1E"/>
          </a:solidFill>
          <a:ln cap="flat" cmpd="sng" w="9525">
            <a:solidFill>
              <a:srgbClr val="2828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5"/>
          <p:cNvSpPr txBox="1"/>
          <p:nvPr/>
        </p:nvSpPr>
        <p:spPr>
          <a:xfrm>
            <a:off x="5394959" y="1755648"/>
            <a:ext cx="4755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Respuesta inmediata vs. horas o días de espera actual</a:t>
            </a:r>
            <a:endParaRPr sz="1500"/>
          </a:p>
        </p:txBody>
      </p:sp>
      <p:sp>
        <p:nvSpPr>
          <p:cNvPr id="203" name="Google Shape;203;p5"/>
          <p:cNvSpPr/>
          <p:nvPr/>
        </p:nvSpPr>
        <p:spPr>
          <a:xfrm>
            <a:off x="10314432" y="1682496"/>
            <a:ext cx="1691639" cy="640080"/>
          </a:xfrm>
          <a:prstGeom prst="rect">
            <a:avLst/>
          </a:prstGeom>
          <a:solidFill>
            <a:srgbClr val="0E0E1E"/>
          </a:solidFill>
          <a:ln cap="flat" cmpd="sng" w="9525">
            <a:solidFill>
              <a:srgbClr val="2828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5"/>
          <p:cNvSpPr txBox="1"/>
          <p:nvPr/>
        </p:nvSpPr>
        <p:spPr>
          <a:xfrm>
            <a:off x="10405872" y="1755648"/>
            <a:ext cx="1554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15-30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días</a:t>
            </a:r>
            <a:endParaRPr sz="1500"/>
          </a:p>
        </p:txBody>
      </p:sp>
      <p:sp>
        <p:nvSpPr>
          <p:cNvPr id="205" name="Google Shape;205;p5"/>
          <p:cNvSpPr/>
          <p:nvPr/>
        </p:nvSpPr>
        <p:spPr>
          <a:xfrm>
            <a:off x="365760" y="2368296"/>
            <a:ext cx="2788920" cy="640080"/>
          </a:xfrm>
          <a:prstGeom prst="rect">
            <a:avLst/>
          </a:prstGeom>
          <a:solidFill>
            <a:srgbClr val="101022"/>
          </a:solidFill>
          <a:ln cap="flat" cmpd="sng" w="9525">
            <a:solidFill>
              <a:srgbClr val="2828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5"/>
          <p:cNvSpPr txBox="1"/>
          <p:nvPr/>
        </p:nvSpPr>
        <p:spPr>
          <a:xfrm>
            <a:off x="457200" y="2441448"/>
            <a:ext cx="2651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Chats perdidos o sin atención</a:t>
            </a:r>
            <a:endParaRPr sz="1500"/>
          </a:p>
        </p:txBody>
      </p:sp>
      <p:sp>
        <p:nvSpPr>
          <p:cNvPr id="207" name="Google Shape;207;p5"/>
          <p:cNvSpPr/>
          <p:nvPr/>
        </p:nvSpPr>
        <p:spPr>
          <a:xfrm>
            <a:off x="3246120" y="2368296"/>
            <a:ext cx="1965960" cy="640080"/>
          </a:xfrm>
          <a:prstGeom prst="rect">
            <a:avLst/>
          </a:prstGeom>
          <a:solidFill>
            <a:srgbClr val="101022"/>
          </a:solidFill>
          <a:ln cap="flat" cmpd="sng" w="9525">
            <a:solidFill>
              <a:srgbClr val="2828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5"/>
          <p:cNvSpPr txBox="1"/>
          <p:nvPr/>
        </p:nvSpPr>
        <p:spPr>
          <a:xfrm>
            <a:off x="3337560" y="2441448"/>
            <a:ext cx="1828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08EFF"/>
                </a:solidFill>
                <a:latin typeface="Calibri"/>
                <a:ea typeface="Calibri"/>
                <a:cs typeface="Calibri"/>
                <a:sym typeface="Calibri"/>
              </a:rPr>
              <a:t>↓ 60%–85%</a:t>
            </a:r>
            <a:endParaRPr sz="1500"/>
          </a:p>
        </p:txBody>
      </p:sp>
      <p:sp>
        <p:nvSpPr>
          <p:cNvPr id="209" name="Google Shape;209;p5"/>
          <p:cNvSpPr/>
          <p:nvPr/>
        </p:nvSpPr>
        <p:spPr>
          <a:xfrm>
            <a:off x="5303520" y="2368296"/>
            <a:ext cx="4892040" cy="640080"/>
          </a:xfrm>
          <a:prstGeom prst="rect">
            <a:avLst/>
          </a:prstGeom>
          <a:solidFill>
            <a:srgbClr val="101022"/>
          </a:solidFill>
          <a:ln cap="flat" cmpd="sng" w="9525">
            <a:solidFill>
              <a:srgbClr val="2828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5"/>
          <p:cNvSpPr txBox="1"/>
          <p:nvPr/>
        </p:nvSpPr>
        <p:spPr>
          <a:xfrm>
            <a:off x="5394959" y="2441448"/>
            <a:ext cx="4755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Drástica reducción de conversaciones abandonadas</a:t>
            </a:r>
            <a:endParaRPr sz="1500"/>
          </a:p>
        </p:txBody>
      </p:sp>
      <p:sp>
        <p:nvSpPr>
          <p:cNvPr id="211" name="Google Shape;211;p5"/>
          <p:cNvSpPr/>
          <p:nvPr/>
        </p:nvSpPr>
        <p:spPr>
          <a:xfrm>
            <a:off x="10314432" y="2368296"/>
            <a:ext cx="1691639" cy="640080"/>
          </a:xfrm>
          <a:prstGeom prst="rect">
            <a:avLst/>
          </a:prstGeom>
          <a:solidFill>
            <a:srgbClr val="101022"/>
          </a:solidFill>
          <a:ln cap="flat" cmpd="sng" w="9525">
            <a:solidFill>
              <a:srgbClr val="2828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5"/>
          <p:cNvSpPr txBox="1"/>
          <p:nvPr/>
        </p:nvSpPr>
        <p:spPr>
          <a:xfrm>
            <a:off x="10405872" y="2441448"/>
            <a:ext cx="1554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15-30 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días</a:t>
            </a:r>
            <a:endParaRPr sz="1500"/>
          </a:p>
        </p:txBody>
      </p:sp>
      <p:sp>
        <p:nvSpPr>
          <p:cNvPr id="213" name="Google Shape;213;p5"/>
          <p:cNvSpPr/>
          <p:nvPr/>
        </p:nvSpPr>
        <p:spPr>
          <a:xfrm>
            <a:off x="365760" y="3054096"/>
            <a:ext cx="2788920" cy="640080"/>
          </a:xfrm>
          <a:prstGeom prst="rect">
            <a:avLst/>
          </a:prstGeom>
          <a:solidFill>
            <a:srgbClr val="0E0E1E"/>
          </a:solidFill>
          <a:ln cap="flat" cmpd="sng" w="9525">
            <a:solidFill>
              <a:srgbClr val="2828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5"/>
          <p:cNvSpPr txBox="1"/>
          <p:nvPr/>
        </p:nvSpPr>
        <p:spPr>
          <a:xfrm>
            <a:off x="457200" y="3127248"/>
            <a:ext cx="2651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Conversión a cita agendada</a:t>
            </a:r>
            <a:endParaRPr sz="1500"/>
          </a:p>
        </p:txBody>
      </p:sp>
      <p:sp>
        <p:nvSpPr>
          <p:cNvPr id="215" name="Google Shape;215;p5"/>
          <p:cNvSpPr/>
          <p:nvPr/>
        </p:nvSpPr>
        <p:spPr>
          <a:xfrm>
            <a:off x="3246120" y="3054096"/>
            <a:ext cx="1965960" cy="640080"/>
          </a:xfrm>
          <a:prstGeom prst="rect">
            <a:avLst/>
          </a:prstGeom>
          <a:solidFill>
            <a:srgbClr val="0E0E1E"/>
          </a:solidFill>
          <a:ln cap="flat" cmpd="sng" w="9525">
            <a:solidFill>
              <a:srgbClr val="2828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5"/>
          <p:cNvSpPr txBox="1"/>
          <p:nvPr/>
        </p:nvSpPr>
        <p:spPr>
          <a:xfrm>
            <a:off x="3337560" y="3127248"/>
            <a:ext cx="1828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08EFF"/>
                </a:solidFill>
                <a:latin typeface="Calibri"/>
                <a:ea typeface="Calibri"/>
                <a:cs typeface="Calibri"/>
                <a:sym typeface="Calibri"/>
              </a:rPr>
              <a:t>↑ 15%–30%</a:t>
            </a:r>
            <a:endParaRPr sz="1500"/>
          </a:p>
        </p:txBody>
      </p:sp>
      <p:sp>
        <p:nvSpPr>
          <p:cNvPr id="217" name="Google Shape;217;p5"/>
          <p:cNvSpPr/>
          <p:nvPr/>
        </p:nvSpPr>
        <p:spPr>
          <a:xfrm>
            <a:off x="5303520" y="3054096"/>
            <a:ext cx="4892040" cy="640080"/>
          </a:xfrm>
          <a:prstGeom prst="rect">
            <a:avLst/>
          </a:prstGeom>
          <a:solidFill>
            <a:srgbClr val="0E0E1E"/>
          </a:solidFill>
          <a:ln cap="flat" cmpd="sng" w="9525">
            <a:solidFill>
              <a:srgbClr val="2828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5"/>
          <p:cNvSpPr txBox="1"/>
          <p:nvPr/>
        </p:nvSpPr>
        <p:spPr>
          <a:xfrm>
            <a:off x="5394959" y="3127248"/>
            <a:ext cx="4755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Más pacientes de primera vez que llegan a agendar</a:t>
            </a:r>
            <a:endParaRPr sz="1500"/>
          </a:p>
        </p:txBody>
      </p:sp>
      <p:sp>
        <p:nvSpPr>
          <p:cNvPr id="219" name="Google Shape;219;p5"/>
          <p:cNvSpPr/>
          <p:nvPr/>
        </p:nvSpPr>
        <p:spPr>
          <a:xfrm>
            <a:off x="10314432" y="3054096"/>
            <a:ext cx="1691639" cy="640080"/>
          </a:xfrm>
          <a:prstGeom prst="rect">
            <a:avLst/>
          </a:prstGeom>
          <a:solidFill>
            <a:srgbClr val="0E0E1E"/>
          </a:solidFill>
          <a:ln cap="flat" cmpd="sng" w="9525">
            <a:solidFill>
              <a:srgbClr val="2828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5"/>
          <p:cNvSpPr txBox="1"/>
          <p:nvPr/>
        </p:nvSpPr>
        <p:spPr>
          <a:xfrm>
            <a:off x="10405872" y="3127248"/>
            <a:ext cx="1554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15-30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días</a:t>
            </a:r>
            <a:endParaRPr sz="1500"/>
          </a:p>
        </p:txBody>
      </p:sp>
      <p:sp>
        <p:nvSpPr>
          <p:cNvPr id="221" name="Google Shape;221;p5"/>
          <p:cNvSpPr/>
          <p:nvPr/>
        </p:nvSpPr>
        <p:spPr>
          <a:xfrm>
            <a:off x="365760" y="3739896"/>
            <a:ext cx="2788920" cy="640080"/>
          </a:xfrm>
          <a:prstGeom prst="rect">
            <a:avLst/>
          </a:prstGeom>
          <a:solidFill>
            <a:srgbClr val="101022"/>
          </a:solidFill>
          <a:ln cap="flat" cmpd="sng" w="9525">
            <a:solidFill>
              <a:srgbClr val="2828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5"/>
          <p:cNvSpPr txBox="1"/>
          <p:nvPr/>
        </p:nvSpPr>
        <p:spPr>
          <a:xfrm>
            <a:off x="457200" y="3813048"/>
            <a:ext cx="2651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Inasistencias y no-show</a:t>
            </a:r>
            <a:endParaRPr sz="1500"/>
          </a:p>
        </p:txBody>
      </p:sp>
      <p:sp>
        <p:nvSpPr>
          <p:cNvPr id="223" name="Google Shape;223;p5"/>
          <p:cNvSpPr/>
          <p:nvPr/>
        </p:nvSpPr>
        <p:spPr>
          <a:xfrm>
            <a:off x="3246120" y="3739896"/>
            <a:ext cx="1965960" cy="640080"/>
          </a:xfrm>
          <a:prstGeom prst="rect">
            <a:avLst/>
          </a:prstGeom>
          <a:solidFill>
            <a:srgbClr val="101022"/>
          </a:solidFill>
          <a:ln cap="flat" cmpd="sng" w="9525">
            <a:solidFill>
              <a:srgbClr val="2828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5"/>
          <p:cNvSpPr txBox="1"/>
          <p:nvPr/>
        </p:nvSpPr>
        <p:spPr>
          <a:xfrm>
            <a:off x="3337560" y="3813048"/>
            <a:ext cx="1828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08EFF"/>
                </a:solidFill>
                <a:latin typeface="Calibri"/>
                <a:ea typeface="Calibri"/>
                <a:cs typeface="Calibri"/>
                <a:sym typeface="Calibri"/>
              </a:rPr>
              <a:t>↓ 20%–40%</a:t>
            </a:r>
            <a:endParaRPr sz="1500"/>
          </a:p>
        </p:txBody>
      </p:sp>
      <p:sp>
        <p:nvSpPr>
          <p:cNvPr id="225" name="Google Shape;225;p5"/>
          <p:cNvSpPr/>
          <p:nvPr/>
        </p:nvSpPr>
        <p:spPr>
          <a:xfrm>
            <a:off x="5303520" y="3739896"/>
            <a:ext cx="4892040" cy="640080"/>
          </a:xfrm>
          <a:prstGeom prst="rect">
            <a:avLst/>
          </a:prstGeom>
          <a:solidFill>
            <a:srgbClr val="101022"/>
          </a:solidFill>
          <a:ln cap="flat" cmpd="sng" w="9525">
            <a:solidFill>
              <a:srgbClr val="2828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5"/>
          <p:cNvSpPr txBox="1"/>
          <p:nvPr/>
        </p:nvSpPr>
        <p:spPr>
          <a:xfrm>
            <a:off x="5394959" y="3813048"/>
            <a:ext cx="4755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Recordatorios a 72h, 24h y 2h + reconfirmación activa</a:t>
            </a:r>
            <a:endParaRPr sz="1500"/>
          </a:p>
        </p:txBody>
      </p:sp>
      <p:sp>
        <p:nvSpPr>
          <p:cNvPr id="227" name="Google Shape;227;p5"/>
          <p:cNvSpPr/>
          <p:nvPr/>
        </p:nvSpPr>
        <p:spPr>
          <a:xfrm>
            <a:off x="10314432" y="3739896"/>
            <a:ext cx="1691639" cy="640080"/>
          </a:xfrm>
          <a:prstGeom prst="rect">
            <a:avLst/>
          </a:prstGeom>
          <a:solidFill>
            <a:srgbClr val="101022"/>
          </a:solidFill>
          <a:ln cap="flat" cmpd="sng" w="9525">
            <a:solidFill>
              <a:srgbClr val="2828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5"/>
          <p:cNvSpPr txBox="1"/>
          <p:nvPr/>
        </p:nvSpPr>
        <p:spPr>
          <a:xfrm>
            <a:off x="10405872" y="3813048"/>
            <a:ext cx="1554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15-30 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días</a:t>
            </a:r>
            <a:endParaRPr sz="1500"/>
          </a:p>
        </p:txBody>
      </p:sp>
      <p:sp>
        <p:nvSpPr>
          <p:cNvPr id="229" name="Google Shape;229;p5"/>
          <p:cNvSpPr/>
          <p:nvPr/>
        </p:nvSpPr>
        <p:spPr>
          <a:xfrm>
            <a:off x="365760" y="4425696"/>
            <a:ext cx="2788920" cy="640080"/>
          </a:xfrm>
          <a:prstGeom prst="rect">
            <a:avLst/>
          </a:prstGeom>
          <a:solidFill>
            <a:srgbClr val="0E0E1E"/>
          </a:solidFill>
          <a:ln cap="flat" cmpd="sng" w="9525">
            <a:solidFill>
              <a:srgbClr val="2828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5"/>
          <p:cNvSpPr txBox="1"/>
          <p:nvPr/>
        </p:nvSpPr>
        <p:spPr>
          <a:xfrm>
            <a:off x="457200" y="4498848"/>
            <a:ext cx="2651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Carga operativa asistente</a:t>
            </a:r>
            <a:endParaRPr sz="1500"/>
          </a:p>
        </p:txBody>
      </p:sp>
      <p:sp>
        <p:nvSpPr>
          <p:cNvPr id="231" name="Google Shape;231;p5"/>
          <p:cNvSpPr/>
          <p:nvPr/>
        </p:nvSpPr>
        <p:spPr>
          <a:xfrm>
            <a:off x="3246120" y="4425696"/>
            <a:ext cx="1965960" cy="640080"/>
          </a:xfrm>
          <a:prstGeom prst="rect">
            <a:avLst/>
          </a:prstGeom>
          <a:solidFill>
            <a:srgbClr val="0E0E1E"/>
          </a:solidFill>
          <a:ln cap="flat" cmpd="sng" w="9525">
            <a:solidFill>
              <a:srgbClr val="2828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5"/>
          <p:cNvSpPr txBox="1"/>
          <p:nvPr/>
        </p:nvSpPr>
        <p:spPr>
          <a:xfrm>
            <a:off x="3337560" y="4498848"/>
            <a:ext cx="1828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08EFF"/>
                </a:solidFill>
                <a:latin typeface="Calibri"/>
                <a:ea typeface="Calibri"/>
                <a:cs typeface="Calibri"/>
                <a:sym typeface="Calibri"/>
              </a:rPr>
              <a:t>↓ 25%–45%</a:t>
            </a:r>
            <a:endParaRPr sz="1500"/>
          </a:p>
        </p:txBody>
      </p:sp>
      <p:sp>
        <p:nvSpPr>
          <p:cNvPr id="233" name="Google Shape;233;p5"/>
          <p:cNvSpPr/>
          <p:nvPr/>
        </p:nvSpPr>
        <p:spPr>
          <a:xfrm>
            <a:off x="5303520" y="4425696"/>
            <a:ext cx="4892040" cy="640080"/>
          </a:xfrm>
          <a:prstGeom prst="rect">
            <a:avLst/>
          </a:prstGeom>
          <a:solidFill>
            <a:srgbClr val="0E0E1E"/>
          </a:solidFill>
          <a:ln cap="flat" cmpd="sng" w="9525">
            <a:solidFill>
              <a:srgbClr val="2828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5"/>
          <p:cNvSpPr txBox="1"/>
          <p:nvPr/>
        </p:nvSpPr>
        <p:spPr>
          <a:xfrm>
            <a:off x="5394959" y="4498848"/>
            <a:ext cx="4755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Tiempo liberado hacia atención presencial y casos complejos</a:t>
            </a:r>
            <a:endParaRPr sz="1500"/>
          </a:p>
        </p:txBody>
      </p:sp>
      <p:sp>
        <p:nvSpPr>
          <p:cNvPr id="235" name="Google Shape;235;p5"/>
          <p:cNvSpPr/>
          <p:nvPr/>
        </p:nvSpPr>
        <p:spPr>
          <a:xfrm>
            <a:off x="10314432" y="4425696"/>
            <a:ext cx="1691639" cy="640080"/>
          </a:xfrm>
          <a:prstGeom prst="rect">
            <a:avLst/>
          </a:prstGeom>
          <a:solidFill>
            <a:srgbClr val="0E0E1E"/>
          </a:solidFill>
          <a:ln cap="flat" cmpd="sng" w="9525">
            <a:solidFill>
              <a:srgbClr val="2828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5"/>
          <p:cNvSpPr txBox="1"/>
          <p:nvPr/>
        </p:nvSpPr>
        <p:spPr>
          <a:xfrm>
            <a:off x="10405872" y="4498848"/>
            <a:ext cx="1554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15-30 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días</a:t>
            </a:r>
            <a:endParaRPr sz="1500"/>
          </a:p>
        </p:txBody>
      </p:sp>
      <p:sp>
        <p:nvSpPr>
          <p:cNvPr id="237" name="Google Shape;237;p5"/>
          <p:cNvSpPr/>
          <p:nvPr/>
        </p:nvSpPr>
        <p:spPr>
          <a:xfrm>
            <a:off x="365760" y="5111496"/>
            <a:ext cx="2788920" cy="640080"/>
          </a:xfrm>
          <a:prstGeom prst="rect">
            <a:avLst/>
          </a:prstGeom>
          <a:solidFill>
            <a:srgbClr val="101022"/>
          </a:solidFill>
          <a:ln cap="flat" cmpd="sng" w="9525">
            <a:solidFill>
              <a:srgbClr val="2828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5"/>
          <p:cNvSpPr txBox="1"/>
          <p:nvPr/>
        </p:nvSpPr>
        <p:spPr>
          <a:xfrm>
            <a:off x="457200" y="5184648"/>
            <a:ext cx="2651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Ocupación de agenda</a:t>
            </a:r>
            <a:endParaRPr sz="1500"/>
          </a:p>
        </p:txBody>
      </p:sp>
      <p:sp>
        <p:nvSpPr>
          <p:cNvPr id="239" name="Google Shape;239;p5"/>
          <p:cNvSpPr/>
          <p:nvPr/>
        </p:nvSpPr>
        <p:spPr>
          <a:xfrm>
            <a:off x="3246120" y="5111496"/>
            <a:ext cx="1965960" cy="640080"/>
          </a:xfrm>
          <a:prstGeom prst="rect">
            <a:avLst/>
          </a:prstGeom>
          <a:solidFill>
            <a:srgbClr val="101022"/>
          </a:solidFill>
          <a:ln cap="flat" cmpd="sng" w="9525">
            <a:solidFill>
              <a:srgbClr val="2828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5"/>
          <p:cNvSpPr txBox="1"/>
          <p:nvPr/>
        </p:nvSpPr>
        <p:spPr>
          <a:xfrm>
            <a:off x="3337560" y="5184648"/>
            <a:ext cx="1828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08EFF"/>
                </a:solidFill>
                <a:latin typeface="Calibri"/>
                <a:ea typeface="Calibri"/>
                <a:cs typeface="Calibri"/>
                <a:sym typeface="Calibri"/>
              </a:rPr>
              <a:t>↑ 10%–+20%</a:t>
            </a:r>
            <a:endParaRPr sz="1500"/>
          </a:p>
        </p:txBody>
      </p:sp>
      <p:sp>
        <p:nvSpPr>
          <p:cNvPr id="241" name="Google Shape;241;p5"/>
          <p:cNvSpPr/>
          <p:nvPr/>
        </p:nvSpPr>
        <p:spPr>
          <a:xfrm>
            <a:off x="5303520" y="5111496"/>
            <a:ext cx="4892040" cy="640080"/>
          </a:xfrm>
          <a:prstGeom prst="rect">
            <a:avLst/>
          </a:prstGeom>
          <a:solidFill>
            <a:srgbClr val="101022"/>
          </a:solidFill>
          <a:ln cap="flat" cmpd="sng" w="9525">
            <a:solidFill>
              <a:srgbClr val="2828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5"/>
          <p:cNvSpPr txBox="1"/>
          <p:nvPr/>
        </p:nvSpPr>
        <p:spPr>
          <a:xfrm>
            <a:off x="5394959" y="5184648"/>
            <a:ext cx="4755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Mejor confirmación y recuperación de citas sin aumentar personal</a:t>
            </a:r>
            <a:endParaRPr sz="1500"/>
          </a:p>
        </p:txBody>
      </p:sp>
      <p:sp>
        <p:nvSpPr>
          <p:cNvPr id="243" name="Google Shape;243;p5"/>
          <p:cNvSpPr/>
          <p:nvPr/>
        </p:nvSpPr>
        <p:spPr>
          <a:xfrm>
            <a:off x="10314432" y="5111496"/>
            <a:ext cx="1691639" cy="640080"/>
          </a:xfrm>
          <a:prstGeom prst="rect">
            <a:avLst/>
          </a:prstGeom>
          <a:solidFill>
            <a:srgbClr val="101022"/>
          </a:solidFill>
          <a:ln cap="flat" cmpd="sng" w="9525">
            <a:solidFill>
              <a:srgbClr val="2828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5"/>
          <p:cNvSpPr txBox="1"/>
          <p:nvPr/>
        </p:nvSpPr>
        <p:spPr>
          <a:xfrm>
            <a:off x="10405872" y="5184648"/>
            <a:ext cx="1554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45-60 diías</a:t>
            </a:r>
            <a:endParaRPr sz="1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6"/>
          <p:cNvSpPr txBox="1"/>
          <p:nvPr/>
        </p:nvSpPr>
        <p:spPr>
          <a:xfrm>
            <a:off x="457200" y="201168"/>
            <a:ext cx="6400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Retorno sobre la </a:t>
            </a:r>
            <a:r>
              <a:rPr b="1" lang="en-US" sz="3400">
                <a:solidFill>
                  <a:srgbClr val="B08EFF"/>
                </a:solidFill>
                <a:latin typeface="Calibri"/>
                <a:ea typeface="Calibri"/>
                <a:cs typeface="Calibri"/>
                <a:sym typeface="Calibri"/>
              </a:rPr>
              <a:t>Inversión (ROI)</a:t>
            </a: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250" name="Google Shape;250;p6"/>
          <p:cNvSpPr txBox="1"/>
          <p:nvPr/>
        </p:nvSpPr>
        <p:spPr>
          <a:xfrm>
            <a:off x="457200" y="795528"/>
            <a:ext cx="11430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0C8FF"/>
                </a:solidFill>
                <a:latin typeface="Calibri"/>
                <a:ea typeface="Calibri"/>
                <a:cs typeface="Calibri"/>
                <a:sym typeface="Calibri"/>
              </a:rPr>
              <a:t>Ticket promedio conservador: COP $250.000 – $500.000 por cita / procedimiento inicial</a:t>
            </a:r>
            <a:endParaRPr/>
          </a:p>
        </p:txBody>
      </p:sp>
      <p:sp>
        <p:nvSpPr>
          <p:cNvPr id="251" name="Google Shape;251;p6"/>
          <p:cNvSpPr/>
          <p:nvPr/>
        </p:nvSpPr>
        <p:spPr>
          <a:xfrm>
            <a:off x="365760" y="1261872"/>
            <a:ext cx="5440680" cy="2606040"/>
          </a:xfrm>
          <a:prstGeom prst="rect">
            <a:avLst/>
          </a:prstGeom>
          <a:solidFill>
            <a:srgbClr val="101022"/>
          </a:solidFill>
          <a:ln cap="flat" cmpd="sng" w="9525">
            <a:solidFill>
              <a:srgbClr val="2828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6"/>
          <p:cNvSpPr/>
          <p:nvPr/>
        </p:nvSpPr>
        <p:spPr>
          <a:xfrm>
            <a:off x="365760" y="1261872"/>
            <a:ext cx="5440680" cy="54864"/>
          </a:xfrm>
          <a:prstGeom prst="rect">
            <a:avLst/>
          </a:prstGeom>
          <a:solidFill>
            <a:srgbClr val="B08E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6"/>
          <p:cNvSpPr txBox="1"/>
          <p:nvPr/>
        </p:nvSpPr>
        <p:spPr>
          <a:xfrm>
            <a:off x="594360" y="1408176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B08EFF"/>
                </a:solidFill>
                <a:latin typeface="Calibri"/>
                <a:ea typeface="Calibri"/>
                <a:cs typeface="Calibri"/>
                <a:sym typeface="Calibri"/>
              </a:rPr>
              <a:t>Conservador</a:t>
            </a:r>
            <a:endParaRPr/>
          </a:p>
        </p:txBody>
      </p:sp>
      <p:sp>
        <p:nvSpPr>
          <p:cNvPr id="254" name="Google Shape;254;p6"/>
          <p:cNvSpPr txBox="1"/>
          <p:nvPr/>
        </p:nvSpPr>
        <p:spPr>
          <a:xfrm>
            <a:off x="594360" y="1920240"/>
            <a:ext cx="4937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999BB"/>
                </a:solidFill>
                <a:latin typeface="Calibri"/>
                <a:ea typeface="Calibri"/>
                <a:cs typeface="Calibri"/>
                <a:sym typeface="Calibri"/>
              </a:rPr>
              <a:t>10–20 citas</a:t>
            </a:r>
            <a:br>
              <a:rPr b="0" i="0" lang="en-US" sz="1500" u="none" cap="none" strike="noStrike">
                <a:solidFill>
                  <a:srgbClr val="9999B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9999BB"/>
                </a:solidFill>
                <a:latin typeface="Calibri"/>
                <a:ea typeface="Calibri"/>
                <a:cs typeface="Calibri"/>
                <a:sym typeface="Calibri"/>
              </a:rPr>
              <a:t>adicionales/mes</a:t>
            </a:r>
            <a:endParaRPr/>
          </a:p>
        </p:txBody>
      </p:sp>
      <p:sp>
        <p:nvSpPr>
          <p:cNvPr id="255" name="Google Shape;255;p6"/>
          <p:cNvSpPr txBox="1"/>
          <p:nvPr/>
        </p:nvSpPr>
        <p:spPr>
          <a:xfrm>
            <a:off x="594360" y="2633472"/>
            <a:ext cx="4937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COP $2.5M – $10M</a:t>
            </a:r>
            <a:b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adicionales/mes</a:t>
            </a:r>
            <a:endParaRPr/>
          </a:p>
        </p:txBody>
      </p:sp>
      <p:sp>
        <p:nvSpPr>
          <p:cNvPr id="256" name="Google Shape;256;p6"/>
          <p:cNvSpPr txBox="1"/>
          <p:nvPr/>
        </p:nvSpPr>
        <p:spPr>
          <a:xfrm>
            <a:off x="594360" y="3429000"/>
            <a:ext cx="4937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0C8FF"/>
                </a:solidFill>
                <a:latin typeface="Calibri"/>
                <a:ea typeface="Calibri"/>
                <a:cs typeface="Calibri"/>
                <a:sym typeface="Calibri"/>
              </a:rPr>
              <a:t>ROI en ~1–2 meses</a:t>
            </a:r>
            <a:endParaRPr/>
          </a:p>
        </p:txBody>
      </p:sp>
      <p:sp>
        <p:nvSpPr>
          <p:cNvPr id="257" name="Google Shape;257;p6"/>
          <p:cNvSpPr/>
          <p:nvPr/>
        </p:nvSpPr>
        <p:spPr>
          <a:xfrm>
            <a:off x="6126480" y="1261872"/>
            <a:ext cx="5440680" cy="2606040"/>
          </a:xfrm>
          <a:prstGeom prst="rect">
            <a:avLst/>
          </a:prstGeom>
          <a:solidFill>
            <a:srgbClr val="101022"/>
          </a:solidFill>
          <a:ln cap="flat" cmpd="sng" w="9525">
            <a:solidFill>
              <a:srgbClr val="2828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6"/>
          <p:cNvSpPr/>
          <p:nvPr/>
        </p:nvSpPr>
        <p:spPr>
          <a:xfrm>
            <a:off x="6126480" y="1261872"/>
            <a:ext cx="5440680" cy="54864"/>
          </a:xfrm>
          <a:prstGeom prst="rect">
            <a:avLst/>
          </a:prstGeom>
          <a:solidFill>
            <a:srgbClr val="B08E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6"/>
          <p:cNvSpPr txBox="1"/>
          <p:nvPr/>
        </p:nvSpPr>
        <p:spPr>
          <a:xfrm>
            <a:off x="6355080" y="1408176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B08EFF"/>
                </a:solidFill>
                <a:latin typeface="Calibri"/>
                <a:ea typeface="Calibri"/>
                <a:cs typeface="Calibri"/>
                <a:sym typeface="Calibri"/>
              </a:rPr>
              <a:t>Ampliado</a:t>
            </a:r>
            <a:endParaRPr/>
          </a:p>
        </p:txBody>
      </p:sp>
      <p:sp>
        <p:nvSpPr>
          <p:cNvPr id="260" name="Google Shape;260;p6"/>
          <p:cNvSpPr txBox="1"/>
          <p:nvPr/>
        </p:nvSpPr>
        <p:spPr>
          <a:xfrm>
            <a:off x="6355080" y="1920240"/>
            <a:ext cx="4937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999BB"/>
                </a:solidFill>
                <a:latin typeface="Calibri"/>
                <a:ea typeface="Calibri"/>
                <a:cs typeface="Calibri"/>
                <a:sym typeface="Calibri"/>
              </a:rPr>
              <a:t>Recuperación de</a:t>
            </a:r>
            <a:br>
              <a:rPr b="0" i="0" lang="en-US" sz="1500" u="none" cap="none" strike="noStrike">
                <a:solidFill>
                  <a:srgbClr val="9999B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9999BB"/>
                </a:solidFill>
                <a:latin typeface="Calibri"/>
                <a:ea typeface="Calibri"/>
                <a:cs typeface="Calibri"/>
                <a:sym typeface="Calibri"/>
              </a:rPr>
              <a:t>agenda + confirmación</a:t>
            </a:r>
            <a:endParaRPr/>
          </a:p>
        </p:txBody>
      </p:sp>
      <p:sp>
        <p:nvSpPr>
          <p:cNvPr id="261" name="Google Shape;261;p6"/>
          <p:cNvSpPr txBox="1"/>
          <p:nvPr/>
        </p:nvSpPr>
        <p:spPr>
          <a:xfrm>
            <a:off x="6355080" y="2633472"/>
            <a:ext cx="4937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COP $6M – $18M</a:t>
            </a:r>
            <a:b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adicionales/mes</a:t>
            </a:r>
            <a:endParaRPr/>
          </a:p>
        </p:txBody>
      </p:sp>
      <p:sp>
        <p:nvSpPr>
          <p:cNvPr id="262" name="Google Shape;262;p6"/>
          <p:cNvSpPr txBox="1"/>
          <p:nvPr/>
        </p:nvSpPr>
        <p:spPr>
          <a:xfrm>
            <a:off x="6355080" y="3429000"/>
            <a:ext cx="4937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0C8FF"/>
                </a:solidFill>
                <a:latin typeface="Calibri"/>
                <a:ea typeface="Calibri"/>
                <a:cs typeface="Calibri"/>
                <a:sym typeface="Calibri"/>
              </a:rPr>
              <a:t>ROI en ~2–3 meses</a:t>
            </a:r>
            <a:endParaRPr/>
          </a:p>
        </p:txBody>
      </p:sp>
      <p:sp>
        <p:nvSpPr>
          <p:cNvPr id="263" name="Google Shape;263;p6"/>
          <p:cNvSpPr txBox="1"/>
          <p:nvPr/>
        </p:nvSpPr>
        <p:spPr>
          <a:xfrm>
            <a:off x="365760" y="4069080"/>
            <a:ext cx="5486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08EFF"/>
                </a:solidFill>
                <a:latin typeface="Calibri"/>
                <a:ea typeface="Calibri"/>
                <a:cs typeface="Calibri"/>
                <a:sym typeface="Calibri"/>
              </a:rPr>
              <a:t>Resumen estratégico</a:t>
            </a:r>
            <a:endParaRPr/>
          </a:p>
        </p:txBody>
      </p:sp>
      <p:sp>
        <p:nvSpPr>
          <p:cNvPr id="264" name="Google Shape;264;p6"/>
          <p:cNvSpPr/>
          <p:nvPr/>
        </p:nvSpPr>
        <p:spPr>
          <a:xfrm>
            <a:off x="365760" y="4590288"/>
            <a:ext cx="3017520" cy="356616"/>
          </a:xfrm>
          <a:prstGeom prst="rect">
            <a:avLst/>
          </a:prstGeom>
          <a:solidFill>
            <a:srgbClr val="0E0E1E"/>
          </a:solidFill>
          <a:ln cap="flat" cmpd="sng" w="9525">
            <a:solidFill>
              <a:srgbClr val="2828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6"/>
          <p:cNvSpPr/>
          <p:nvPr/>
        </p:nvSpPr>
        <p:spPr>
          <a:xfrm>
            <a:off x="3429000" y="4590288"/>
            <a:ext cx="8394192" cy="356616"/>
          </a:xfrm>
          <a:prstGeom prst="rect">
            <a:avLst/>
          </a:prstGeom>
          <a:solidFill>
            <a:srgbClr val="0E0E1E"/>
          </a:solidFill>
          <a:ln cap="flat" cmpd="sng" w="9525">
            <a:solidFill>
              <a:srgbClr val="2828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6"/>
          <p:cNvSpPr txBox="1"/>
          <p:nvPr/>
        </p:nvSpPr>
        <p:spPr>
          <a:xfrm>
            <a:off x="502920" y="4626864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08EFF"/>
                </a:solidFill>
                <a:latin typeface="Calibri"/>
                <a:ea typeface="Calibri"/>
                <a:cs typeface="Calibri"/>
                <a:sym typeface="Calibri"/>
              </a:rPr>
              <a:t>Eficiencia operativa</a:t>
            </a:r>
            <a:endParaRPr/>
          </a:p>
        </p:txBody>
      </p:sp>
      <p:sp>
        <p:nvSpPr>
          <p:cNvPr id="267" name="Google Shape;267;p6"/>
          <p:cNvSpPr txBox="1"/>
          <p:nvPr/>
        </p:nvSpPr>
        <p:spPr>
          <a:xfrm>
            <a:off x="3566160" y="4626864"/>
            <a:ext cx="8138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Hasta 90% menos tiempo de primera respuesta · asistente libera 25–45% de carga repetitiva</a:t>
            </a:r>
            <a:endParaRPr/>
          </a:p>
        </p:txBody>
      </p:sp>
      <p:sp>
        <p:nvSpPr>
          <p:cNvPr id="268" name="Google Shape;268;p6"/>
          <p:cNvSpPr/>
          <p:nvPr/>
        </p:nvSpPr>
        <p:spPr>
          <a:xfrm>
            <a:off x="365760" y="4992624"/>
            <a:ext cx="3017520" cy="356616"/>
          </a:xfrm>
          <a:prstGeom prst="rect">
            <a:avLst/>
          </a:prstGeom>
          <a:solidFill>
            <a:srgbClr val="101022"/>
          </a:solidFill>
          <a:ln cap="flat" cmpd="sng" w="9525">
            <a:solidFill>
              <a:srgbClr val="2828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6"/>
          <p:cNvSpPr/>
          <p:nvPr/>
        </p:nvSpPr>
        <p:spPr>
          <a:xfrm>
            <a:off x="3429000" y="4992624"/>
            <a:ext cx="8394192" cy="356616"/>
          </a:xfrm>
          <a:prstGeom prst="rect">
            <a:avLst/>
          </a:prstGeom>
          <a:solidFill>
            <a:srgbClr val="101022"/>
          </a:solidFill>
          <a:ln cap="flat" cmpd="sng" w="9525">
            <a:solidFill>
              <a:srgbClr val="2828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6"/>
          <p:cNvSpPr txBox="1"/>
          <p:nvPr/>
        </p:nvSpPr>
        <p:spPr>
          <a:xfrm>
            <a:off x="502920" y="5029200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08EFF"/>
                </a:solidFill>
                <a:latin typeface="Calibri"/>
                <a:ea typeface="Calibri"/>
                <a:cs typeface="Calibri"/>
                <a:sym typeface="Calibri"/>
              </a:rPr>
              <a:t>Crecimiento de agenda</a:t>
            </a:r>
            <a:endParaRPr/>
          </a:p>
        </p:txBody>
      </p:sp>
      <p:sp>
        <p:nvSpPr>
          <p:cNvPr id="271" name="Google Shape;271;p6"/>
          <p:cNvSpPr txBox="1"/>
          <p:nvPr/>
        </p:nvSpPr>
        <p:spPr>
          <a:xfrm>
            <a:off x="3566160" y="5029200"/>
            <a:ext cx="8138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COP $2.5M a $18M adicionales/mes según escenario y velocidad de adopción</a:t>
            </a:r>
            <a:endParaRPr/>
          </a:p>
        </p:txBody>
      </p:sp>
      <p:sp>
        <p:nvSpPr>
          <p:cNvPr id="272" name="Google Shape;272;p6"/>
          <p:cNvSpPr/>
          <p:nvPr/>
        </p:nvSpPr>
        <p:spPr>
          <a:xfrm>
            <a:off x="365760" y="5394959"/>
            <a:ext cx="3017520" cy="356616"/>
          </a:xfrm>
          <a:prstGeom prst="rect">
            <a:avLst/>
          </a:prstGeom>
          <a:solidFill>
            <a:srgbClr val="0E0E1E"/>
          </a:solidFill>
          <a:ln cap="flat" cmpd="sng" w="9525">
            <a:solidFill>
              <a:srgbClr val="2828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6"/>
          <p:cNvSpPr/>
          <p:nvPr/>
        </p:nvSpPr>
        <p:spPr>
          <a:xfrm>
            <a:off x="3429000" y="5394959"/>
            <a:ext cx="8394192" cy="356616"/>
          </a:xfrm>
          <a:prstGeom prst="rect">
            <a:avLst/>
          </a:prstGeom>
          <a:solidFill>
            <a:srgbClr val="0E0E1E"/>
          </a:solidFill>
          <a:ln cap="flat" cmpd="sng" w="9525">
            <a:solidFill>
              <a:srgbClr val="2828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6"/>
          <p:cNvSpPr txBox="1"/>
          <p:nvPr/>
        </p:nvSpPr>
        <p:spPr>
          <a:xfrm>
            <a:off x="502920" y="5431536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08EFF"/>
                </a:solidFill>
                <a:latin typeface="Calibri"/>
                <a:ea typeface="Calibri"/>
                <a:cs typeface="Calibri"/>
                <a:sym typeface="Calibri"/>
              </a:rPr>
              <a:t>Retención del paciente</a:t>
            </a:r>
            <a:endParaRPr/>
          </a:p>
        </p:txBody>
      </p:sp>
      <p:sp>
        <p:nvSpPr>
          <p:cNvPr id="275" name="Google Shape;275;p6"/>
          <p:cNvSpPr txBox="1"/>
          <p:nvPr/>
        </p:nvSpPr>
        <p:spPr>
          <a:xfrm>
            <a:off x="3566160" y="5431536"/>
            <a:ext cx="8138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Seguimiento post procedimiento + recordatorios = mayor fidelización y recompra</a:t>
            </a:r>
            <a:endParaRPr/>
          </a:p>
        </p:txBody>
      </p:sp>
      <p:sp>
        <p:nvSpPr>
          <p:cNvPr id="276" name="Google Shape;276;p6"/>
          <p:cNvSpPr/>
          <p:nvPr/>
        </p:nvSpPr>
        <p:spPr>
          <a:xfrm>
            <a:off x="365760" y="5797296"/>
            <a:ext cx="3017520" cy="356616"/>
          </a:xfrm>
          <a:prstGeom prst="rect">
            <a:avLst/>
          </a:prstGeom>
          <a:solidFill>
            <a:srgbClr val="101022"/>
          </a:solidFill>
          <a:ln cap="flat" cmpd="sng" w="9525">
            <a:solidFill>
              <a:srgbClr val="2828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6"/>
          <p:cNvSpPr/>
          <p:nvPr/>
        </p:nvSpPr>
        <p:spPr>
          <a:xfrm>
            <a:off x="3429000" y="5797296"/>
            <a:ext cx="8394192" cy="356616"/>
          </a:xfrm>
          <a:prstGeom prst="rect">
            <a:avLst/>
          </a:prstGeom>
          <a:solidFill>
            <a:srgbClr val="101022"/>
          </a:solidFill>
          <a:ln cap="flat" cmpd="sng" w="9525">
            <a:solidFill>
              <a:srgbClr val="2828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6"/>
          <p:cNvSpPr txBox="1"/>
          <p:nvPr/>
        </p:nvSpPr>
        <p:spPr>
          <a:xfrm>
            <a:off x="502920" y="5833872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08EFF"/>
                </a:solidFill>
                <a:latin typeface="Calibri"/>
                <a:ea typeface="Calibri"/>
                <a:cs typeface="Calibri"/>
                <a:sym typeface="Calibri"/>
              </a:rPr>
              <a:t>Escalabilidad</a:t>
            </a:r>
            <a:endParaRPr/>
          </a:p>
        </p:txBody>
      </p:sp>
      <p:sp>
        <p:nvSpPr>
          <p:cNvPr id="279" name="Google Shape;279;p6"/>
          <p:cNvSpPr txBox="1"/>
          <p:nvPr/>
        </p:nvSpPr>
        <p:spPr>
          <a:xfrm>
            <a:off x="3566160" y="5833872"/>
            <a:ext cx="8138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Modelo replicable a otros consultorios del mismo perfil sin rediseñar desde cero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Google Shape;284;p7" title="artistic-blurry-colorful-wallpaper-background (1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4" y="0"/>
            <a:ext cx="12188948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7"/>
          <p:cNvSpPr txBox="1"/>
          <p:nvPr/>
        </p:nvSpPr>
        <p:spPr>
          <a:xfrm>
            <a:off x="457200" y="201175"/>
            <a:ext cx="6842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Plan de Implementa</a:t>
            </a:r>
            <a:r>
              <a:rPr b="1" lang="en-US" sz="3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ción</a:t>
            </a:r>
            <a:endParaRPr/>
          </a:p>
        </p:txBody>
      </p:sp>
      <p:sp>
        <p:nvSpPr>
          <p:cNvPr id="286" name="Google Shape;286;p7"/>
          <p:cNvSpPr/>
          <p:nvPr/>
        </p:nvSpPr>
        <p:spPr>
          <a:xfrm>
            <a:off x="2530814" y="1612051"/>
            <a:ext cx="9400800" cy="567000"/>
          </a:xfrm>
          <a:prstGeom prst="rect">
            <a:avLst/>
          </a:prstGeom>
          <a:solidFill>
            <a:srgbClr val="101022"/>
          </a:solidFill>
          <a:ln cap="flat" cmpd="sng" w="9525">
            <a:solidFill>
              <a:srgbClr val="2828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7"/>
          <p:cNvSpPr/>
          <p:nvPr/>
        </p:nvSpPr>
        <p:spPr>
          <a:xfrm>
            <a:off x="372804" y="1602894"/>
            <a:ext cx="2176200" cy="567000"/>
          </a:xfrm>
          <a:prstGeom prst="rect">
            <a:avLst/>
          </a:prstGeom>
          <a:solidFill>
            <a:srgbClr val="B08E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7"/>
          <p:cNvSpPr txBox="1"/>
          <p:nvPr/>
        </p:nvSpPr>
        <p:spPr>
          <a:xfrm>
            <a:off x="464243" y="1648614"/>
            <a:ext cx="1965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80812"/>
                </a:solidFill>
                <a:latin typeface="Calibri"/>
                <a:ea typeface="Calibri"/>
                <a:cs typeface="Calibri"/>
                <a:sym typeface="Calibri"/>
              </a:rPr>
              <a:t>Fase 1</a:t>
            </a:r>
            <a:endParaRPr/>
          </a:p>
        </p:txBody>
      </p:sp>
      <p:sp>
        <p:nvSpPr>
          <p:cNvPr id="289" name="Google Shape;289;p7"/>
          <p:cNvSpPr txBox="1"/>
          <p:nvPr/>
        </p:nvSpPr>
        <p:spPr>
          <a:xfrm>
            <a:off x="455084" y="1886299"/>
            <a:ext cx="1965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80812"/>
                </a:solidFill>
                <a:latin typeface="Calibri"/>
                <a:ea typeface="Calibri"/>
                <a:cs typeface="Calibri"/>
                <a:sym typeface="Calibri"/>
              </a:rPr>
              <a:t>Urgente</a:t>
            </a:r>
            <a:endParaRPr/>
          </a:p>
        </p:txBody>
      </p:sp>
      <p:sp>
        <p:nvSpPr>
          <p:cNvPr id="290" name="Google Shape;290;p7"/>
          <p:cNvSpPr txBox="1"/>
          <p:nvPr/>
        </p:nvSpPr>
        <p:spPr>
          <a:xfrm>
            <a:off x="2784542" y="1703611"/>
            <a:ext cx="6289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D4E8FF"/>
                </a:solidFill>
                <a:latin typeface="Calibri"/>
                <a:ea typeface="Calibri"/>
                <a:cs typeface="Calibri"/>
                <a:sym typeface="Calibri"/>
              </a:rPr>
              <a:t>Agente WhatsApp básico, FAQ, clasificación inicial, atención automatizada en ambos números.</a:t>
            </a:r>
            <a:endParaRPr b="1" sz="1500"/>
          </a:p>
        </p:txBody>
      </p:sp>
      <p:sp>
        <p:nvSpPr>
          <p:cNvPr id="291" name="Google Shape;291;p7"/>
          <p:cNvSpPr txBox="1"/>
          <p:nvPr/>
        </p:nvSpPr>
        <p:spPr>
          <a:xfrm>
            <a:off x="9781964" y="1922934"/>
            <a:ext cx="1965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80812"/>
                </a:solidFill>
                <a:latin typeface="Calibri"/>
                <a:ea typeface="Calibri"/>
                <a:cs typeface="Calibri"/>
                <a:sym typeface="Calibri"/>
              </a:rPr>
              <a:t>Post Atención</a:t>
            </a:r>
            <a:endParaRPr b="1" sz="1500"/>
          </a:p>
        </p:txBody>
      </p:sp>
      <p:sp>
        <p:nvSpPr>
          <p:cNvPr id="292" name="Google Shape;292;p7"/>
          <p:cNvSpPr/>
          <p:nvPr/>
        </p:nvSpPr>
        <p:spPr>
          <a:xfrm>
            <a:off x="11979459" y="1138431"/>
            <a:ext cx="45600" cy="4983600"/>
          </a:xfrm>
          <a:prstGeom prst="rect">
            <a:avLst/>
          </a:prstGeom>
          <a:solidFill>
            <a:srgbClr val="B08E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7"/>
          <p:cNvSpPr/>
          <p:nvPr/>
        </p:nvSpPr>
        <p:spPr>
          <a:xfrm>
            <a:off x="369522" y="2453231"/>
            <a:ext cx="2176200" cy="567000"/>
          </a:xfrm>
          <a:prstGeom prst="rect">
            <a:avLst/>
          </a:prstGeom>
          <a:solidFill>
            <a:srgbClr val="B08E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7"/>
          <p:cNvSpPr txBox="1"/>
          <p:nvPr/>
        </p:nvSpPr>
        <p:spPr>
          <a:xfrm>
            <a:off x="460961" y="2498951"/>
            <a:ext cx="1965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80812"/>
                </a:solidFill>
                <a:latin typeface="Calibri"/>
                <a:ea typeface="Calibri"/>
                <a:cs typeface="Calibri"/>
                <a:sym typeface="Calibri"/>
              </a:rPr>
              <a:t>Fase </a:t>
            </a:r>
            <a:r>
              <a:rPr b="1" lang="en-US" sz="1600">
                <a:solidFill>
                  <a:srgbClr val="08081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95" name="Google Shape;295;p7"/>
          <p:cNvSpPr txBox="1"/>
          <p:nvPr/>
        </p:nvSpPr>
        <p:spPr>
          <a:xfrm>
            <a:off x="451802" y="2736637"/>
            <a:ext cx="1965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80812"/>
                </a:solidFill>
                <a:latin typeface="Calibri"/>
                <a:ea typeface="Calibri"/>
                <a:cs typeface="Calibri"/>
                <a:sym typeface="Calibri"/>
              </a:rPr>
              <a:t>Confirmaciones</a:t>
            </a:r>
            <a:endParaRPr/>
          </a:p>
        </p:txBody>
      </p:sp>
      <p:sp>
        <p:nvSpPr>
          <p:cNvPr id="296" name="Google Shape;296;p7"/>
          <p:cNvSpPr/>
          <p:nvPr/>
        </p:nvSpPr>
        <p:spPr>
          <a:xfrm>
            <a:off x="2545732" y="2453238"/>
            <a:ext cx="9400800" cy="567000"/>
          </a:xfrm>
          <a:prstGeom prst="rect">
            <a:avLst/>
          </a:prstGeom>
          <a:solidFill>
            <a:srgbClr val="101022"/>
          </a:solidFill>
          <a:ln cap="flat" cmpd="sng" w="9525">
            <a:solidFill>
              <a:srgbClr val="2828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7"/>
          <p:cNvSpPr txBox="1"/>
          <p:nvPr/>
        </p:nvSpPr>
        <p:spPr>
          <a:xfrm>
            <a:off x="2781261" y="2598251"/>
            <a:ext cx="6289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D4E8FF"/>
                </a:solidFill>
                <a:latin typeface="Calibri"/>
                <a:ea typeface="Calibri"/>
                <a:cs typeface="Calibri"/>
                <a:sym typeface="Calibri"/>
              </a:rPr>
              <a:t>Secuencia de recordatorios a 72h / 24h / 2h, reconfirmación y lógica de reagendamiento.</a:t>
            </a:r>
            <a:endParaRPr b="1" sz="1500"/>
          </a:p>
        </p:txBody>
      </p:sp>
      <p:sp>
        <p:nvSpPr>
          <p:cNvPr id="298" name="Google Shape;298;p7"/>
          <p:cNvSpPr/>
          <p:nvPr/>
        </p:nvSpPr>
        <p:spPr>
          <a:xfrm>
            <a:off x="363090" y="3303606"/>
            <a:ext cx="2176200" cy="567000"/>
          </a:xfrm>
          <a:prstGeom prst="rect">
            <a:avLst/>
          </a:prstGeom>
          <a:solidFill>
            <a:srgbClr val="B08E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7"/>
          <p:cNvSpPr txBox="1"/>
          <p:nvPr/>
        </p:nvSpPr>
        <p:spPr>
          <a:xfrm>
            <a:off x="454529" y="3349326"/>
            <a:ext cx="1965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80812"/>
                </a:solidFill>
                <a:latin typeface="Calibri"/>
                <a:ea typeface="Calibri"/>
                <a:cs typeface="Calibri"/>
                <a:sym typeface="Calibri"/>
              </a:rPr>
              <a:t>Fase </a:t>
            </a:r>
            <a:r>
              <a:rPr b="1" lang="en-US" sz="1600">
                <a:solidFill>
                  <a:srgbClr val="08081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00" name="Google Shape;300;p7"/>
          <p:cNvSpPr txBox="1"/>
          <p:nvPr/>
        </p:nvSpPr>
        <p:spPr>
          <a:xfrm>
            <a:off x="445371" y="3587012"/>
            <a:ext cx="1965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80812"/>
                </a:solidFill>
                <a:latin typeface="Calibri"/>
                <a:ea typeface="Calibri"/>
                <a:cs typeface="Calibri"/>
                <a:sym typeface="Calibri"/>
              </a:rPr>
              <a:t>Integración</a:t>
            </a:r>
            <a:endParaRPr/>
          </a:p>
        </p:txBody>
      </p:sp>
      <p:sp>
        <p:nvSpPr>
          <p:cNvPr id="301" name="Google Shape;301;p7"/>
          <p:cNvSpPr/>
          <p:nvPr/>
        </p:nvSpPr>
        <p:spPr>
          <a:xfrm>
            <a:off x="2539300" y="3303613"/>
            <a:ext cx="9400800" cy="567000"/>
          </a:xfrm>
          <a:prstGeom prst="rect">
            <a:avLst/>
          </a:prstGeom>
          <a:solidFill>
            <a:srgbClr val="101022"/>
          </a:solidFill>
          <a:ln cap="flat" cmpd="sng" w="9525">
            <a:solidFill>
              <a:srgbClr val="2828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7"/>
          <p:cNvSpPr txBox="1"/>
          <p:nvPr/>
        </p:nvSpPr>
        <p:spPr>
          <a:xfrm>
            <a:off x="2774829" y="3404323"/>
            <a:ext cx="6289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D4E8FF"/>
                </a:solidFill>
                <a:latin typeface="Calibri"/>
                <a:ea typeface="Calibri"/>
                <a:cs typeface="Calibri"/>
                <a:sym typeface="Calibri"/>
              </a:rPr>
              <a:t>Revisión API Sunube, conexión con agenda real por sede / especialista / procedimiento, pruebas.</a:t>
            </a:r>
            <a:endParaRPr b="1" sz="1300">
              <a:solidFill>
                <a:srgbClr val="D4E8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7"/>
          <p:cNvSpPr/>
          <p:nvPr/>
        </p:nvSpPr>
        <p:spPr>
          <a:xfrm>
            <a:off x="372480" y="4218694"/>
            <a:ext cx="2176200" cy="567000"/>
          </a:xfrm>
          <a:prstGeom prst="rect">
            <a:avLst/>
          </a:prstGeom>
          <a:solidFill>
            <a:srgbClr val="B08E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7"/>
          <p:cNvSpPr txBox="1"/>
          <p:nvPr/>
        </p:nvSpPr>
        <p:spPr>
          <a:xfrm>
            <a:off x="463919" y="4264414"/>
            <a:ext cx="1965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80812"/>
                </a:solidFill>
                <a:latin typeface="Calibri"/>
                <a:ea typeface="Calibri"/>
                <a:cs typeface="Calibri"/>
                <a:sym typeface="Calibri"/>
              </a:rPr>
              <a:t>Fase </a:t>
            </a:r>
            <a:r>
              <a:rPr b="1" lang="en-US" sz="1600">
                <a:solidFill>
                  <a:srgbClr val="080812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305" name="Google Shape;305;p7"/>
          <p:cNvSpPr txBox="1"/>
          <p:nvPr/>
        </p:nvSpPr>
        <p:spPr>
          <a:xfrm>
            <a:off x="454760" y="4502099"/>
            <a:ext cx="1965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80812"/>
                </a:solidFill>
                <a:latin typeface="Calibri"/>
                <a:ea typeface="Calibri"/>
                <a:cs typeface="Calibri"/>
                <a:sym typeface="Calibri"/>
              </a:rPr>
              <a:t>Voz / Llamada</a:t>
            </a:r>
            <a:endParaRPr/>
          </a:p>
        </p:txBody>
      </p:sp>
      <p:sp>
        <p:nvSpPr>
          <p:cNvPr id="306" name="Google Shape;306;p7"/>
          <p:cNvSpPr/>
          <p:nvPr/>
        </p:nvSpPr>
        <p:spPr>
          <a:xfrm>
            <a:off x="2548690" y="4218701"/>
            <a:ext cx="9400800" cy="567000"/>
          </a:xfrm>
          <a:prstGeom prst="rect">
            <a:avLst/>
          </a:prstGeom>
          <a:solidFill>
            <a:srgbClr val="101022"/>
          </a:solidFill>
          <a:ln cap="flat" cmpd="sng" w="9525">
            <a:solidFill>
              <a:srgbClr val="2828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7"/>
          <p:cNvSpPr txBox="1"/>
          <p:nvPr/>
        </p:nvSpPr>
        <p:spPr>
          <a:xfrm>
            <a:off x="2784218" y="4330486"/>
            <a:ext cx="6289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D4E8FF"/>
                </a:solidFill>
                <a:latin typeface="Calibri"/>
                <a:ea typeface="Calibri"/>
                <a:cs typeface="Calibri"/>
                <a:sym typeface="Calibri"/>
              </a:rPr>
              <a:t>Captura de llamadas, agente de voz, conexión al entorno operativo, transcripción y registro.</a:t>
            </a:r>
            <a:endParaRPr b="1" sz="1300">
              <a:solidFill>
                <a:srgbClr val="D4E8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7"/>
          <p:cNvSpPr/>
          <p:nvPr/>
        </p:nvSpPr>
        <p:spPr>
          <a:xfrm>
            <a:off x="367912" y="5069044"/>
            <a:ext cx="2176200" cy="567000"/>
          </a:xfrm>
          <a:prstGeom prst="rect">
            <a:avLst/>
          </a:prstGeom>
          <a:solidFill>
            <a:srgbClr val="B08E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7"/>
          <p:cNvSpPr txBox="1"/>
          <p:nvPr/>
        </p:nvSpPr>
        <p:spPr>
          <a:xfrm>
            <a:off x="459351" y="5114764"/>
            <a:ext cx="1965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80812"/>
                </a:solidFill>
                <a:latin typeface="Calibri"/>
                <a:ea typeface="Calibri"/>
                <a:cs typeface="Calibri"/>
                <a:sym typeface="Calibri"/>
              </a:rPr>
              <a:t>Fase 5</a:t>
            </a:r>
            <a:endParaRPr b="1" sz="1600">
              <a:solidFill>
                <a:srgbClr val="08081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8081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7"/>
          <p:cNvSpPr txBox="1"/>
          <p:nvPr/>
        </p:nvSpPr>
        <p:spPr>
          <a:xfrm>
            <a:off x="450193" y="5352449"/>
            <a:ext cx="1965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80812"/>
                </a:solidFill>
                <a:latin typeface="Calibri"/>
                <a:ea typeface="Calibri"/>
                <a:cs typeface="Calibri"/>
                <a:sym typeface="Calibri"/>
              </a:rPr>
              <a:t>Post Atención</a:t>
            </a:r>
            <a:endParaRPr/>
          </a:p>
        </p:txBody>
      </p:sp>
      <p:sp>
        <p:nvSpPr>
          <p:cNvPr id="311" name="Google Shape;311;p7"/>
          <p:cNvSpPr/>
          <p:nvPr/>
        </p:nvSpPr>
        <p:spPr>
          <a:xfrm>
            <a:off x="2544122" y="5069051"/>
            <a:ext cx="9400800" cy="567000"/>
          </a:xfrm>
          <a:prstGeom prst="rect">
            <a:avLst/>
          </a:prstGeom>
          <a:solidFill>
            <a:srgbClr val="101022"/>
          </a:solidFill>
          <a:ln cap="flat" cmpd="sng" w="9525">
            <a:solidFill>
              <a:srgbClr val="2828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7"/>
          <p:cNvSpPr txBox="1"/>
          <p:nvPr/>
        </p:nvSpPr>
        <p:spPr>
          <a:xfrm>
            <a:off x="2779651" y="5169761"/>
            <a:ext cx="6289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D4E8FF"/>
                </a:solidFill>
                <a:latin typeface="Calibri"/>
                <a:ea typeface="Calibri"/>
                <a:cs typeface="Calibri"/>
                <a:sym typeface="Calibri"/>
              </a:rPr>
              <a:t>Mensajes post procedimiento, detección de incidencias, escalamiento a humano y seguimiento.</a:t>
            </a:r>
            <a:endParaRPr b="1" sz="1300">
              <a:solidFill>
                <a:srgbClr val="D4E8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Google Shape;317;g39631bda09f_0_113" title="artistic-blurry-colorful-wallpaper-background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" y="0"/>
            <a:ext cx="12188948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g39631bda09f_0_113"/>
          <p:cNvSpPr txBox="1"/>
          <p:nvPr/>
        </p:nvSpPr>
        <p:spPr>
          <a:xfrm>
            <a:off x="342875" y="510450"/>
            <a:ext cx="5486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Inversión en </a:t>
            </a:r>
            <a:r>
              <a:rPr b="1" lang="en-US" sz="3600">
                <a:solidFill>
                  <a:srgbClr val="B08EFF"/>
                </a:solidFill>
                <a:latin typeface="Calibri"/>
                <a:ea typeface="Calibri"/>
                <a:cs typeface="Calibri"/>
                <a:sym typeface="Calibri"/>
              </a:rPr>
              <a:t>Crecimiento</a:t>
            </a:r>
            <a:endParaRPr b="1" sz="3600">
              <a:solidFill>
                <a:srgbClr val="B08E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g39631bda09f_0_113"/>
          <p:cNvSpPr txBox="1"/>
          <p:nvPr/>
        </p:nvSpPr>
        <p:spPr>
          <a:xfrm>
            <a:off x="4892015" y="628745"/>
            <a:ext cx="5486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g39631bda09f_0_113"/>
          <p:cNvSpPr txBox="1"/>
          <p:nvPr/>
        </p:nvSpPr>
        <p:spPr>
          <a:xfrm>
            <a:off x="365735" y="1105419"/>
            <a:ext cx="731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B08EFF"/>
                </a:solidFill>
                <a:latin typeface="Calibri"/>
                <a:ea typeface="Calibri"/>
                <a:cs typeface="Calibri"/>
                <a:sym typeface="Calibri"/>
              </a:rPr>
              <a:t>Implementaciòn del </a:t>
            </a:r>
            <a:r>
              <a:rPr b="1" i="0" lang="en-US" sz="2000" u="none" cap="none" strike="noStrike">
                <a:solidFill>
                  <a:srgbClr val="B08EFF"/>
                </a:solidFill>
                <a:latin typeface="Calibri"/>
                <a:ea typeface="Calibri"/>
                <a:cs typeface="Calibri"/>
                <a:sym typeface="Calibri"/>
              </a:rPr>
              <a:t>Sistema Comercial Inteligente</a:t>
            </a:r>
            <a:endParaRPr>
              <a:solidFill>
                <a:srgbClr val="B08EFF"/>
              </a:solidFill>
            </a:endParaRPr>
          </a:p>
        </p:txBody>
      </p:sp>
      <p:sp>
        <p:nvSpPr>
          <p:cNvPr id="321" name="Google Shape;321;g39631bda09f_0_113"/>
          <p:cNvSpPr/>
          <p:nvPr/>
        </p:nvSpPr>
        <p:spPr>
          <a:xfrm>
            <a:off x="365735" y="1551206"/>
            <a:ext cx="11430000" cy="804600"/>
          </a:xfrm>
          <a:prstGeom prst="rect">
            <a:avLst/>
          </a:prstGeom>
          <a:solidFill>
            <a:srgbClr val="434343"/>
          </a:solidFill>
          <a:ln cap="flat" cmpd="sng" w="381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g39631bda09f_0_113"/>
          <p:cNvSpPr txBox="1"/>
          <p:nvPr/>
        </p:nvSpPr>
        <p:spPr>
          <a:xfrm>
            <a:off x="548615" y="1749687"/>
            <a:ext cx="3657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Pago Único (Recomendado)</a:t>
            </a:r>
            <a:endParaRPr/>
          </a:p>
        </p:txBody>
      </p:sp>
      <p:sp>
        <p:nvSpPr>
          <p:cNvPr id="323" name="Google Shape;323;g39631bda09f_0_113"/>
          <p:cNvSpPr txBox="1"/>
          <p:nvPr/>
        </p:nvSpPr>
        <p:spPr>
          <a:xfrm>
            <a:off x="4297655" y="1749687"/>
            <a:ext cx="2560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EFF9A"/>
                </a:solidFill>
                <a:latin typeface="Calibri"/>
                <a:ea typeface="Calibri"/>
                <a:cs typeface="Calibri"/>
                <a:sym typeface="Calibri"/>
              </a:rPr>
              <a:t>$</a:t>
            </a:r>
            <a:r>
              <a:rPr b="1" lang="en-US" sz="1800">
                <a:solidFill>
                  <a:srgbClr val="DEFF9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i="0" lang="en-US" sz="1800" u="none" cap="none" strike="noStrike">
                <a:solidFill>
                  <a:srgbClr val="DEFF9A"/>
                </a:solidFill>
                <a:latin typeface="Calibri"/>
                <a:ea typeface="Calibri"/>
                <a:cs typeface="Calibri"/>
                <a:sym typeface="Calibri"/>
              </a:rPr>
              <a:t>,500 USD</a:t>
            </a:r>
            <a:endParaRPr/>
          </a:p>
        </p:txBody>
      </p:sp>
      <p:sp>
        <p:nvSpPr>
          <p:cNvPr id="324" name="Google Shape;324;g39631bda09f_0_113"/>
          <p:cNvSpPr txBox="1"/>
          <p:nvPr/>
        </p:nvSpPr>
        <p:spPr>
          <a:xfrm>
            <a:off x="6949415" y="1813695"/>
            <a:ext cx="4663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Ahorra </a:t>
            </a:r>
            <a:r>
              <a:rPr lang="en-US" sz="13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r>
              <a:rPr b="0" i="0" lang="en-US" sz="13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% pagando de contado</a:t>
            </a:r>
            <a:endParaRPr/>
          </a:p>
        </p:txBody>
      </p:sp>
      <p:sp>
        <p:nvSpPr>
          <p:cNvPr id="325" name="Google Shape;325;g39631bda09f_0_113"/>
          <p:cNvSpPr/>
          <p:nvPr/>
        </p:nvSpPr>
        <p:spPr>
          <a:xfrm>
            <a:off x="365735" y="2465606"/>
            <a:ext cx="11430000" cy="804600"/>
          </a:xfrm>
          <a:prstGeom prst="rect">
            <a:avLst/>
          </a:prstGeom>
          <a:solidFill>
            <a:srgbClr val="434343"/>
          </a:solidFill>
          <a:ln cap="flat" cmpd="sng" w="381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g39631bda09f_0_113"/>
          <p:cNvSpPr txBox="1"/>
          <p:nvPr/>
        </p:nvSpPr>
        <p:spPr>
          <a:xfrm>
            <a:off x="548615" y="2701686"/>
            <a:ext cx="3657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Pago en fases</a:t>
            </a:r>
            <a:endParaRPr/>
          </a:p>
        </p:txBody>
      </p:sp>
      <p:sp>
        <p:nvSpPr>
          <p:cNvPr id="327" name="Google Shape;327;g39631bda09f_0_113"/>
          <p:cNvSpPr txBox="1"/>
          <p:nvPr/>
        </p:nvSpPr>
        <p:spPr>
          <a:xfrm>
            <a:off x="4297655" y="2701686"/>
            <a:ext cx="2560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$</a:t>
            </a: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00 USD </a:t>
            </a: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por fase</a:t>
            </a:r>
            <a:endParaRPr/>
          </a:p>
        </p:txBody>
      </p:sp>
      <p:sp>
        <p:nvSpPr>
          <p:cNvPr id="328" name="Google Shape;328;g39631bda09f_0_113"/>
          <p:cNvSpPr txBox="1"/>
          <p:nvPr/>
        </p:nvSpPr>
        <p:spPr>
          <a:xfrm>
            <a:off x="6949265" y="2653365"/>
            <a:ext cx="46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Al terminar cada fase se paga la siguiente para continuar de forma efectiva y continua</a:t>
            </a:r>
            <a:endParaRPr sz="1300">
              <a:solidFill>
                <a:srgbClr val="AAAAA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g39631bda09f_0_113"/>
          <p:cNvSpPr/>
          <p:nvPr/>
        </p:nvSpPr>
        <p:spPr>
          <a:xfrm>
            <a:off x="365735" y="4294406"/>
            <a:ext cx="11430000" cy="804600"/>
          </a:xfrm>
          <a:prstGeom prst="rect">
            <a:avLst/>
          </a:prstGeom>
          <a:solidFill>
            <a:srgbClr val="161616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g39631bda09f_0_113"/>
          <p:cNvSpPr txBox="1"/>
          <p:nvPr/>
        </p:nvSpPr>
        <p:spPr>
          <a:xfrm>
            <a:off x="510866" y="4519488"/>
            <a:ext cx="3657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Software + Mantenimiento Mensual</a:t>
            </a:r>
            <a:endParaRPr/>
          </a:p>
        </p:txBody>
      </p:sp>
      <p:sp>
        <p:nvSpPr>
          <p:cNvPr id="331" name="Google Shape;331;g39631bda09f_0_113"/>
          <p:cNvSpPr txBox="1"/>
          <p:nvPr/>
        </p:nvSpPr>
        <p:spPr>
          <a:xfrm>
            <a:off x="3763003" y="4510508"/>
            <a:ext cx="2560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$97 USD +</a:t>
            </a:r>
            <a:endParaRPr/>
          </a:p>
        </p:txBody>
      </p:sp>
      <p:sp>
        <p:nvSpPr>
          <p:cNvPr id="332" name="Google Shape;332;g39631bda09f_0_113"/>
          <p:cNvSpPr txBox="1"/>
          <p:nvPr/>
        </p:nvSpPr>
        <p:spPr>
          <a:xfrm>
            <a:off x="7334565" y="4545981"/>
            <a:ext cx="339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Soporte, ajustes, monitoreo y mejora continua</a:t>
            </a:r>
            <a:endParaRPr/>
          </a:p>
        </p:txBody>
      </p:sp>
      <p:sp>
        <p:nvSpPr>
          <p:cNvPr id="333" name="Google Shape;333;g39631bda09f_0_113"/>
          <p:cNvSpPr/>
          <p:nvPr/>
        </p:nvSpPr>
        <p:spPr>
          <a:xfrm>
            <a:off x="365725" y="5202551"/>
            <a:ext cx="11430000" cy="400200"/>
          </a:xfrm>
          <a:prstGeom prst="rect">
            <a:avLst/>
          </a:prstGeom>
          <a:solidFill>
            <a:srgbClr val="161616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g39631bda09f_0_113"/>
          <p:cNvSpPr txBox="1"/>
          <p:nvPr/>
        </p:nvSpPr>
        <p:spPr>
          <a:xfrm>
            <a:off x="563153" y="5202537"/>
            <a:ext cx="3657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Costos adicionales por consumo</a:t>
            </a:r>
            <a:endParaRPr/>
          </a:p>
        </p:txBody>
      </p:sp>
      <p:sp>
        <p:nvSpPr>
          <p:cNvPr id="335" name="Google Shape;335;g39631bda09f_0_113"/>
          <p:cNvSpPr txBox="1"/>
          <p:nvPr/>
        </p:nvSpPr>
        <p:spPr>
          <a:xfrm>
            <a:off x="4389225" y="5255624"/>
            <a:ext cx="7406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API de Meta, Email Marketing, minutos de llamada, SMS, tokens IA, ejecucion de automatizaciones premiums</a:t>
            </a:r>
            <a:endParaRPr b="1" sz="17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g39631bda09f_0_113"/>
          <p:cNvSpPr txBox="1"/>
          <p:nvPr/>
        </p:nvSpPr>
        <p:spPr>
          <a:xfrm>
            <a:off x="5075959" y="4504664"/>
            <a:ext cx="2560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$ 3</a:t>
            </a: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0USD /</a:t>
            </a: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mes</a:t>
            </a:r>
            <a:endParaRPr/>
          </a:p>
        </p:txBody>
      </p:sp>
      <p:sp>
        <p:nvSpPr>
          <p:cNvPr id="337" name="Google Shape;337;g39631bda09f_0_113"/>
          <p:cNvSpPr txBox="1"/>
          <p:nvPr/>
        </p:nvSpPr>
        <p:spPr>
          <a:xfrm>
            <a:off x="365735" y="3781756"/>
            <a:ext cx="731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B08EFF"/>
                </a:solidFill>
                <a:latin typeface="Calibri"/>
                <a:ea typeface="Calibri"/>
                <a:cs typeface="Calibri"/>
                <a:sym typeface="Calibri"/>
              </a:rPr>
              <a:t>Recurrencias del Software </a:t>
            </a:r>
            <a:r>
              <a:rPr b="1" lang="en-US" sz="20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(A partir del Segundo mes)</a:t>
            </a:r>
            <a:endParaRPr>
              <a:solidFill>
                <a:srgbClr val="CCCCCC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9"/>
          <p:cNvSpPr txBox="1"/>
          <p:nvPr/>
        </p:nvSpPr>
        <p:spPr>
          <a:xfrm>
            <a:off x="457200" y="201168"/>
            <a:ext cx="45720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Próximos </a:t>
            </a:r>
            <a:r>
              <a:rPr b="1" lang="en-US" sz="3400">
                <a:solidFill>
                  <a:srgbClr val="B08EFF"/>
                </a:solidFill>
                <a:latin typeface="Calibri"/>
                <a:ea typeface="Calibri"/>
                <a:cs typeface="Calibri"/>
                <a:sym typeface="Calibri"/>
              </a:rPr>
              <a:t>Pasos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343" name="Google Shape;343;p9"/>
          <p:cNvSpPr/>
          <p:nvPr/>
        </p:nvSpPr>
        <p:spPr>
          <a:xfrm>
            <a:off x="365760" y="1234440"/>
            <a:ext cx="3703320" cy="2423160"/>
          </a:xfrm>
          <a:prstGeom prst="rect">
            <a:avLst/>
          </a:prstGeom>
          <a:solidFill>
            <a:srgbClr val="101022"/>
          </a:solidFill>
          <a:ln cap="flat" cmpd="sng" w="9525">
            <a:solidFill>
              <a:srgbClr val="2828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9"/>
          <p:cNvSpPr/>
          <p:nvPr/>
        </p:nvSpPr>
        <p:spPr>
          <a:xfrm>
            <a:off x="548640" y="1399032"/>
            <a:ext cx="566928" cy="566928"/>
          </a:xfrm>
          <a:prstGeom prst="ellipse">
            <a:avLst/>
          </a:prstGeom>
          <a:solidFill>
            <a:srgbClr val="B08E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9"/>
          <p:cNvSpPr txBox="1"/>
          <p:nvPr/>
        </p:nvSpPr>
        <p:spPr>
          <a:xfrm>
            <a:off x="548640" y="1435608"/>
            <a:ext cx="566928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80812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</p:txBody>
      </p:sp>
      <p:sp>
        <p:nvSpPr>
          <p:cNvPr id="346" name="Google Shape;346;p9"/>
          <p:cNvSpPr txBox="1"/>
          <p:nvPr/>
        </p:nvSpPr>
        <p:spPr>
          <a:xfrm>
            <a:off x="1280160" y="1417320"/>
            <a:ext cx="2606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Aprobación</a:t>
            </a:r>
            <a:b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del Enfoque</a:t>
            </a:r>
            <a:endParaRPr/>
          </a:p>
        </p:txBody>
      </p:sp>
      <p:sp>
        <p:nvSpPr>
          <p:cNvPr id="347" name="Google Shape;347;p9"/>
          <p:cNvSpPr txBox="1"/>
          <p:nvPr/>
        </p:nvSpPr>
        <p:spPr>
          <a:xfrm>
            <a:off x="566928" y="2130552"/>
            <a:ext cx="329184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D4E8FF"/>
                </a:solidFill>
                <a:latin typeface="Calibri"/>
                <a:ea typeface="Calibri"/>
                <a:cs typeface="Calibri"/>
                <a:sym typeface="Calibri"/>
              </a:rPr>
              <a:t>Validar el alcance de la Fase 1 y confirmar los módulos a implementar primero.</a:t>
            </a:r>
            <a:endParaRPr/>
          </a:p>
        </p:txBody>
      </p:sp>
      <p:sp>
        <p:nvSpPr>
          <p:cNvPr id="348" name="Google Shape;348;p9"/>
          <p:cNvSpPr/>
          <p:nvPr/>
        </p:nvSpPr>
        <p:spPr>
          <a:xfrm>
            <a:off x="4297680" y="1234440"/>
            <a:ext cx="3703320" cy="2423160"/>
          </a:xfrm>
          <a:prstGeom prst="rect">
            <a:avLst/>
          </a:prstGeom>
          <a:solidFill>
            <a:srgbClr val="101022"/>
          </a:solidFill>
          <a:ln cap="flat" cmpd="sng" w="9525">
            <a:solidFill>
              <a:srgbClr val="2828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9"/>
          <p:cNvSpPr/>
          <p:nvPr/>
        </p:nvSpPr>
        <p:spPr>
          <a:xfrm>
            <a:off x="4480560" y="1399032"/>
            <a:ext cx="566928" cy="566928"/>
          </a:xfrm>
          <a:prstGeom prst="ellipse">
            <a:avLst/>
          </a:prstGeom>
          <a:solidFill>
            <a:srgbClr val="B08E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9"/>
          <p:cNvSpPr txBox="1"/>
          <p:nvPr/>
        </p:nvSpPr>
        <p:spPr>
          <a:xfrm>
            <a:off x="4480560" y="1435608"/>
            <a:ext cx="566928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80812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351" name="Google Shape;351;p9"/>
          <p:cNvSpPr txBox="1"/>
          <p:nvPr/>
        </p:nvSpPr>
        <p:spPr>
          <a:xfrm>
            <a:off x="5212080" y="1417320"/>
            <a:ext cx="2606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Levantamiento</a:t>
            </a:r>
            <a:b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 Información</a:t>
            </a:r>
            <a:endParaRPr/>
          </a:p>
        </p:txBody>
      </p:sp>
      <p:sp>
        <p:nvSpPr>
          <p:cNvPr id="352" name="Google Shape;352;p9"/>
          <p:cNvSpPr txBox="1"/>
          <p:nvPr/>
        </p:nvSpPr>
        <p:spPr>
          <a:xfrm>
            <a:off x="4498848" y="2130552"/>
            <a:ext cx="329184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D4E8FF"/>
                </a:solidFill>
                <a:latin typeface="Calibri"/>
                <a:ea typeface="Calibri"/>
                <a:cs typeface="Calibri"/>
                <a:sym typeface="Calibri"/>
              </a:rPr>
              <a:t>FAQs actuales, flujos de atención, criterios de clasificación, perfiles de cita y especialistas.</a:t>
            </a:r>
            <a:endParaRPr/>
          </a:p>
        </p:txBody>
      </p:sp>
      <p:sp>
        <p:nvSpPr>
          <p:cNvPr id="353" name="Google Shape;353;p9"/>
          <p:cNvSpPr/>
          <p:nvPr/>
        </p:nvSpPr>
        <p:spPr>
          <a:xfrm>
            <a:off x="8229600" y="1234440"/>
            <a:ext cx="3703320" cy="2423160"/>
          </a:xfrm>
          <a:prstGeom prst="rect">
            <a:avLst/>
          </a:prstGeom>
          <a:solidFill>
            <a:srgbClr val="101022"/>
          </a:solidFill>
          <a:ln cap="flat" cmpd="sng" w="9525">
            <a:solidFill>
              <a:srgbClr val="2828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9"/>
          <p:cNvSpPr/>
          <p:nvPr/>
        </p:nvSpPr>
        <p:spPr>
          <a:xfrm>
            <a:off x="8412480" y="1399032"/>
            <a:ext cx="566928" cy="566928"/>
          </a:xfrm>
          <a:prstGeom prst="ellipse">
            <a:avLst/>
          </a:prstGeom>
          <a:solidFill>
            <a:srgbClr val="B08E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9"/>
          <p:cNvSpPr txBox="1"/>
          <p:nvPr/>
        </p:nvSpPr>
        <p:spPr>
          <a:xfrm>
            <a:off x="8412480" y="1435608"/>
            <a:ext cx="566928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80812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  <p:sp>
        <p:nvSpPr>
          <p:cNvPr id="356" name="Google Shape;356;p9"/>
          <p:cNvSpPr txBox="1"/>
          <p:nvPr/>
        </p:nvSpPr>
        <p:spPr>
          <a:xfrm>
            <a:off x="9144000" y="1417320"/>
            <a:ext cx="2606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Revisión API</a:t>
            </a:r>
            <a:b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Sunube</a:t>
            </a:r>
            <a:endParaRPr/>
          </a:p>
        </p:txBody>
      </p:sp>
      <p:sp>
        <p:nvSpPr>
          <p:cNvPr id="357" name="Google Shape;357;p9"/>
          <p:cNvSpPr txBox="1"/>
          <p:nvPr/>
        </p:nvSpPr>
        <p:spPr>
          <a:xfrm>
            <a:off x="8430768" y="2130552"/>
            <a:ext cx="329184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D4E8FF"/>
                </a:solidFill>
                <a:latin typeface="Calibri"/>
                <a:ea typeface="Calibri"/>
                <a:cs typeface="Calibri"/>
                <a:sym typeface="Calibri"/>
              </a:rPr>
              <a:t>Evaluar disponibilidad técnica y diseñar la lógica de integración con agenda real.</a:t>
            </a:r>
            <a:endParaRPr/>
          </a:p>
        </p:txBody>
      </p:sp>
      <p:sp>
        <p:nvSpPr>
          <p:cNvPr id="358" name="Google Shape;358;p9"/>
          <p:cNvSpPr/>
          <p:nvPr/>
        </p:nvSpPr>
        <p:spPr>
          <a:xfrm>
            <a:off x="1600200" y="3931920"/>
            <a:ext cx="3703320" cy="2423160"/>
          </a:xfrm>
          <a:prstGeom prst="rect">
            <a:avLst/>
          </a:prstGeom>
          <a:solidFill>
            <a:srgbClr val="101022"/>
          </a:solidFill>
          <a:ln cap="flat" cmpd="sng" w="9525">
            <a:solidFill>
              <a:srgbClr val="2828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9"/>
          <p:cNvSpPr/>
          <p:nvPr/>
        </p:nvSpPr>
        <p:spPr>
          <a:xfrm>
            <a:off x="1783080" y="4096512"/>
            <a:ext cx="566928" cy="566928"/>
          </a:xfrm>
          <a:prstGeom prst="ellipse">
            <a:avLst/>
          </a:prstGeom>
          <a:solidFill>
            <a:srgbClr val="B08E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9"/>
          <p:cNvSpPr txBox="1"/>
          <p:nvPr/>
        </p:nvSpPr>
        <p:spPr>
          <a:xfrm>
            <a:off x="1783080" y="4133088"/>
            <a:ext cx="566928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80812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/>
          </a:p>
        </p:txBody>
      </p:sp>
      <p:sp>
        <p:nvSpPr>
          <p:cNvPr id="361" name="Google Shape;361;p9"/>
          <p:cNvSpPr txBox="1"/>
          <p:nvPr/>
        </p:nvSpPr>
        <p:spPr>
          <a:xfrm>
            <a:off x="2514600" y="4114800"/>
            <a:ext cx="2606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Kick-off y</a:t>
            </a:r>
            <a:b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Diseño</a:t>
            </a:r>
            <a:endParaRPr/>
          </a:p>
        </p:txBody>
      </p:sp>
      <p:sp>
        <p:nvSpPr>
          <p:cNvPr id="362" name="Google Shape;362;p9"/>
          <p:cNvSpPr txBox="1"/>
          <p:nvPr/>
        </p:nvSpPr>
        <p:spPr>
          <a:xfrm>
            <a:off x="1801368" y="4828032"/>
            <a:ext cx="329184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D4E8FF"/>
                </a:solidFill>
                <a:latin typeface="Calibri"/>
                <a:ea typeface="Calibri"/>
                <a:cs typeface="Calibri"/>
                <a:sym typeface="Calibri"/>
              </a:rPr>
              <a:t>Sesión de arranque con el equipo para alinear flujos, tiempos y responsables.</a:t>
            </a:r>
            <a:endParaRPr/>
          </a:p>
        </p:txBody>
      </p:sp>
      <p:sp>
        <p:nvSpPr>
          <p:cNvPr id="363" name="Google Shape;363;p9"/>
          <p:cNvSpPr/>
          <p:nvPr/>
        </p:nvSpPr>
        <p:spPr>
          <a:xfrm>
            <a:off x="5532120" y="3931920"/>
            <a:ext cx="3703320" cy="2423160"/>
          </a:xfrm>
          <a:prstGeom prst="rect">
            <a:avLst/>
          </a:prstGeom>
          <a:solidFill>
            <a:srgbClr val="101022"/>
          </a:solidFill>
          <a:ln cap="flat" cmpd="sng" w="9525">
            <a:solidFill>
              <a:srgbClr val="2828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9"/>
          <p:cNvSpPr/>
          <p:nvPr/>
        </p:nvSpPr>
        <p:spPr>
          <a:xfrm>
            <a:off x="5715000" y="4096512"/>
            <a:ext cx="566928" cy="566928"/>
          </a:xfrm>
          <a:prstGeom prst="ellipse">
            <a:avLst/>
          </a:prstGeom>
          <a:solidFill>
            <a:srgbClr val="B08E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9"/>
          <p:cNvSpPr txBox="1"/>
          <p:nvPr/>
        </p:nvSpPr>
        <p:spPr>
          <a:xfrm>
            <a:off x="5715000" y="4133088"/>
            <a:ext cx="566928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80812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/>
          </a:p>
        </p:txBody>
      </p:sp>
      <p:sp>
        <p:nvSpPr>
          <p:cNvPr id="366" name="Google Shape;366;p9"/>
          <p:cNvSpPr txBox="1"/>
          <p:nvPr/>
        </p:nvSpPr>
        <p:spPr>
          <a:xfrm>
            <a:off x="6446520" y="4114800"/>
            <a:ext cx="2606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Implementación</a:t>
            </a:r>
            <a:b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 Pruebas</a:t>
            </a:r>
            <a:endParaRPr/>
          </a:p>
        </p:txBody>
      </p:sp>
      <p:sp>
        <p:nvSpPr>
          <p:cNvPr id="367" name="Google Shape;367;p9"/>
          <p:cNvSpPr txBox="1"/>
          <p:nvPr/>
        </p:nvSpPr>
        <p:spPr>
          <a:xfrm>
            <a:off x="5733288" y="4828032"/>
            <a:ext cx="329184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D4E8FF"/>
                </a:solidFill>
                <a:latin typeface="Calibri"/>
                <a:ea typeface="Calibri"/>
                <a:cs typeface="Calibri"/>
                <a:sym typeface="Calibri"/>
              </a:rPr>
              <a:t>Construcción del sistema, pruebas controladas y ajustes antes de la salida en vivo.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08E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0"/>
          <p:cNvSpPr txBox="1"/>
          <p:nvPr/>
        </p:nvSpPr>
        <p:spPr>
          <a:xfrm>
            <a:off x="548640" y="1051560"/>
            <a:ext cx="11430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Una operación que</a:t>
            </a:r>
            <a:endParaRPr/>
          </a:p>
        </p:txBody>
      </p:sp>
      <p:sp>
        <p:nvSpPr>
          <p:cNvPr id="374" name="Google Shape;374;p10"/>
          <p:cNvSpPr txBox="1"/>
          <p:nvPr/>
        </p:nvSpPr>
        <p:spPr>
          <a:xfrm>
            <a:off x="548640" y="1920240"/>
            <a:ext cx="11430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600" u="none" cap="none" strike="noStrike">
                <a:solidFill>
                  <a:srgbClr val="B08EFF"/>
                </a:solidFill>
                <a:latin typeface="Calibri"/>
                <a:ea typeface="Calibri"/>
                <a:cs typeface="Calibri"/>
                <a:sym typeface="Calibri"/>
              </a:rPr>
              <a:t>no pierde pacientes</a:t>
            </a:r>
            <a:endParaRPr/>
          </a:p>
        </p:txBody>
      </p:sp>
      <p:sp>
        <p:nvSpPr>
          <p:cNvPr id="375" name="Google Shape;375;p10"/>
          <p:cNvSpPr txBox="1"/>
          <p:nvPr/>
        </p:nvSpPr>
        <p:spPr>
          <a:xfrm>
            <a:off x="548640" y="3063240"/>
            <a:ext cx="114300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4E8FF"/>
                </a:solidFill>
                <a:latin typeface="Calibri"/>
                <a:ea typeface="Calibri"/>
                <a:cs typeface="Calibri"/>
                <a:sym typeface="Calibri"/>
              </a:rPr>
              <a:t>La clínica no necesita solo un chatbot.</a:t>
            </a:r>
            <a:br>
              <a:rPr b="0" i="0" lang="en-US" sz="1800" u="none" cap="none" strike="noStrike">
                <a:solidFill>
                  <a:srgbClr val="D4E8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D4E8FF"/>
                </a:solidFill>
                <a:latin typeface="Calibri"/>
                <a:ea typeface="Calibri"/>
                <a:cs typeface="Calibri"/>
                <a:sym typeface="Calibri"/>
              </a:rPr>
              <a:t>Necesita una infraestructura inteligente que responda ya, deje de perder chats,</a:t>
            </a:r>
            <a:br>
              <a:rPr b="0" i="0" lang="en-US" sz="1800" u="none" cap="none" strike="noStrike">
                <a:solidFill>
                  <a:srgbClr val="D4E8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D4E8FF"/>
                </a:solidFill>
                <a:latin typeface="Calibri"/>
                <a:ea typeface="Calibri"/>
                <a:cs typeface="Calibri"/>
                <a:sym typeface="Calibri"/>
              </a:rPr>
              <a:t>ordene el ingreso de pacientes y confirme mejor — sin depender de memoria ni multitarea.</a:t>
            </a:r>
            <a:endParaRPr/>
          </a:p>
        </p:txBody>
      </p:sp>
      <p:sp>
        <p:nvSpPr>
          <p:cNvPr id="376" name="Google Shape;376;p10"/>
          <p:cNvSpPr/>
          <p:nvPr/>
        </p:nvSpPr>
        <p:spPr>
          <a:xfrm>
            <a:off x="1005840" y="4315968"/>
            <a:ext cx="3063240" cy="1298448"/>
          </a:xfrm>
          <a:prstGeom prst="rect">
            <a:avLst/>
          </a:prstGeom>
          <a:solidFill>
            <a:srgbClr val="101022"/>
          </a:solidFill>
          <a:ln cap="flat" cmpd="sng" w="9525">
            <a:solidFill>
              <a:srgbClr val="2828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0"/>
          <p:cNvSpPr/>
          <p:nvPr/>
        </p:nvSpPr>
        <p:spPr>
          <a:xfrm>
            <a:off x="1005840" y="4315968"/>
            <a:ext cx="3063240" cy="54864"/>
          </a:xfrm>
          <a:prstGeom prst="rect">
            <a:avLst/>
          </a:prstGeom>
          <a:solidFill>
            <a:srgbClr val="B08E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0"/>
          <p:cNvSpPr txBox="1"/>
          <p:nvPr/>
        </p:nvSpPr>
        <p:spPr>
          <a:xfrm>
            <a:off x="1170432" y="4462272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B08EFF"/>
                </a:solidFill>
                <a:latin typeface="Calibri"/>
                <a:ea typeface="Calibri"/>
                <a:cs typeface="Calibri"/>
                <a:sym typeface="Calibri"/>
              </a:rPr>
              <a:t>Responde ya</a:t>
            </a:r>
            <a:endParaRPr/>
          </a:p>
        </p:txBody>
      </p:sp>
      <p:sp>
        <p:nvSpPr>
          <p:cNvPr id="379" name="Google Shape;379;p10"/>
          <p:cNvSpPr txBox="1"/>
          <p:nvPr/>
        </p:nvSpPr>
        <p:spPr>
          <a:xfrm>
            <a:off x="1170432" y="4919472"/>
            <a:ext cx="2743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D4E8FF"/>
                </a:solidFill>
                <a:latin typeface="Calibri"/>
                <a:ea typeface="Calibri"/>
                <a:cs typeface="Calibri"/>
                <a:sym typeface="Calibri"/>
              </a:rPr>
              <a:t>Ningún paciente sin primera respuesta estructurada</a:t>
            </a:r>
            <a:endParaRPr/>
          </a:p>
        </p:txBody>
      </p:sp>
      <p:sp>
        <p:nvSpPr>
          <p:cNvPr id="380" name="Google Shape;380;p10"/>
          <p:cNvSpPr/>
          <p:nvPr/>
        </p:nvSpPr>
        <p:spPr>
          <a:xfrm>
            <a:off x="4434840" y="4315968"/>
            <a:ext cx="3063240" cy="1298448"/>
          </a:xfrm>
          <a:prstGeom prst="rect">
            <a:avLst/>
          </a:prstGeom>
          <a:solidFill>
            <a:srgbClr val="101022"/>
          </a:solidFill>
          <a:ln cap="flat" cmpd="sng" w="9525">
            <a:solidFill>
              <a:srgbClr val="2828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0"/>
          <p:cNvSpPr/>
          <p:nvPr/>
        </p:nvSpPr>
        <p:spPr>
          <a:xfrm>
            <a:off x="4434840" y="4315968"/>
            <a:ext cx="3063240" cy="54864"/>
          </a:xfrm>
          <a:prstGeom prst="rect">
            <a:avLst/>
          </a:prstGeom>
          <a:solidFill>
            <a:srgbClr val="B08E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0"/>
          <p:cNvSpPr txBox="1"/>
          <p:nvPr/>
        </p:nvSpPr>
        <p:spPr>
          <a:xfrm>
            <a:off x="4599431" y="4462272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B08EFF"/>
                </a:solidFill>
                <a:latin typeface="Calibri"/>
                <a:ea typeface="Calibri"/>
                <a:cs typeface="Calibri"/>
                <a:sym typeface="Calibri"/>
              </a:rPr>
              <a:t>Agenda con control</a:t>
            </a:r>
            <a:endParaRPr/>
          </a:p>
        </p:txBody>
      </p:sp>
      <p:sp>
        <p:nvSpPr>
          <p:cNvPr id="383" name="Google Shape;383;p10"/>
          <p:cNvSpPr txBox="1"/>
          <p:nvPr/>
        </p:nvSpPr>
        <p:spPr>
          <a:xfrm>
            <a:off x="4599431" y="4919472"/>
            <a:ext cx="2743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D4E8FF"/>
                </a:solidFill>
                <a:latin typeface="Calibri"/>
                <a:ea typeface="Calibri"/>
                <a:cs typeface="Calibri"/>
                <a:sym typeface="Calibri"/>
              </a:rPr>
              <a:t>Recordatorios, confirmación y ocupación máxima</a:t>
            </a:r>
            <a:endParaRPr/>
          </a:p>
        </p:txBody>
      </p:sp>
      <p:sp>
        <p:nvSpPr>
          <p:cNvPr id="384" name="Google Shape;384;p10"/>
          <p:cNvSpPr/>
          <p:nvPr/>
        </p:nvSpPr>
        <p:spPr>
          <a:xfrm>
            <a:off x="7863840" y="4315968"/>
            <a:ext cx="3063240" cy="1298448"/>
          </a:xfrm>
          <a:prstGeom prst="rect">
            <a:avLst/>
          </a:prstGeom>
          <a:solidFill>
            <a:srgbClr val="101022"/>
          </a:solidFill>
          <a:ln cap="flat" cmpd="sng" w="9525">
            <a:solidFill>
              <a:srgbClr val="2828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0"/>
          <p:cNvSpPr/>
          <p:nvPr/>
        </p:nvSpPr>
        <p:spPr>
          <a:xfrm>
            <a:off x="7863840" y="4315968"/>
            <a:ext cx="3063240" cy="54864"/>
          </a:xfrm>
          <a:prstGeom prst="rect">
            <a:avLst/>
          </a:prstGeom>
          <a:solidFill>
            <a:srgbClr val="B08E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0"/>
          <p:cNvSpPr txBox="1"/>
          <p:nvPr/>
        </p:nvSpPr>
        <p:spPr>
          <a:xfrm>
            <a:off x="8028431" y="4462272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B08EFF"/>
                </a:solidFill>
                <a:latin typeface="Calibri"/>
                <a:ea typeface="Calibri"/>
                <a:cs typeface="Calibri"/>
                <a:sym typeface="Calibri"/>
              </a:rPr>
              <a:t>Crece con estándar</a:t>
            </a:r>
            <a:endParaRPr/>
          </a:p>
        </p:txBody>
      </p:sp>
      <p:sp>
        <p:nvSpPr>
          <p:cNvPr id="387" name="Google Shape;387;p10"/>
          <p:cNvSpPr txBox="1"/>
          <p:nvPr/>
        </p:nvSpPr>
        <p:spPr>
          <a:xfrm>
            <a:off x="8028431" y="4919472"/>
            <a:ext cx="2743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D4E8FF"/>
                </a:solidFill>
                <a:latin typeface="Calibri"/>
                <a:ea typeface="Calibri"/>
                <a:cs typeface="Calibri"/>
                <a:sym typeface="Calibri"/>
              </a:rPr>
              <a:t>Modelo replicable a otros consultorios del mismo perfil</a:t>
            </a:r>
            <a:endParaRPr/>
          </a:p>
        </p:txBody>
      </p:sp>
      <p:sp>
        <p:nvSpPr>
          <p:cNvPr id="388" name="Google Shape;388;p10"/>
          <p:cNvSpPr/>
          <p:nvPr/>
        </p:nvSpPr>
        <p:spPr>
          <a:xfrm>
            <a:off x="3840480" y="5870448"/>
            <a:ext cx="4572000" cy="658368"/>
          </a:xfrm>
          <a:prstGeom prst="rect">
            <a:avLst/>
          </a:prstGeom>
          <a:solidFill>
            <a:srgbClr val="101022"/>
          </a:solidFill>
          <a:ln cap="flat" cmpd="sng" w="12700">
            <a:solidFill>
              <a:srgbClr val="2828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0"/>
          <p:cNvSpPr txBox="1"/>
          <p:nvPr/>
        </p:nvSpPr>
        <p:spPr>
          <a:xfrm>
            <a:off x="3840480" y="5943600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Cognisium LAB  |  Automatización, IA y Sistemas Comerciales</a:t>
            </a:r>
            <a:endParaRPr/>
          </a:p>
        </p:txBody>
      </p:sp>
      <p:sp>
        <p:nvSpPr>
          <p:cNvPr id="390" name="Google Shape;390;p10"/>
          <p:cNvSpPr/>
          <p:nvPr/>
        </p:nvSpPr>
        <p:spPr>
          <a:xfrm>
            <a:off x="2011680" y="6583680"/>
            <a:ext cx="8229600" cy="54864"/>
          </a:xfrm>
          <a:prstGeom prst="rect">
            <a:avLst/>
          </a:prstGeom>
          <a:solidFill>
            <a:srgbClr val="B08E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