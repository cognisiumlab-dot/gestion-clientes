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Sistema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EFF9A"/>
                </a:solidFill>
                <a:latin typeface="Calibri"/>
              </a:rPr>
              <a:t>Automatizado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Propuesta de Implementación para Fantiplas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AFFDE"/>
                </a:solidFill>
                <a:latin typeface="Calibri"/>
              </a:rPr>
              <a:t>Presentada por Cognisium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212080"/>
            <a:ext cx="8531352" cy="1828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El Reto 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11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EFF9A"/>
                </a:solidFill>
                <a:latin typeface="Calibri"/>
              </a:rPr>
              <a:t>Orquestación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493776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EFF9A"/>
                </a:solidFill>
                <a:latin typeface="Calibri"/>
              </a:rPr>
              <a:t>El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Fantiplas no tiene un problema de producto, capacidad ni trayectoria.
Tiene un reto de orquestación comercial.
Gran parte del proceso depende de seguimiento manual, asignación de oportunidades persona a persona y poca visibilidad del embudo completo.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EFF9A"/>
                </a:solidFill>
                <a:latin typeface="Calibri"/>
              </a:rPr>
              <a:t>La oportunidad</a:t>
            </a:r>
          </a:p>
        </p:txBody>
      </p:sp>
      <p:sp>
        <p:nvSpPr>
          <p:cNvPr id="10" name="Oval 9"/>
          <p:cNvSpPr/>
          <p:nvPr/>
        </p:nvSpPr>
        <p:spPr>
          <a:xfrm>
            <a:off x="6537960" y="205740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933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Atender mejor su base actual de 800–900 clientes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2715768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651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Responder más rápido a cada lead entrante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3374136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3101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Precalificar oportunidades automáticamente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403250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96849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Ordenar el flujo comercial con un pipeline claro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4690872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62686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Automatizar seguimiento post-cotización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534924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5285231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Preparar la infraestructura para escalar campañas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Contexto 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3200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EFF9A"/>
                </a:solidFill>
                <a:latin typeface="Calibri"/>
              </a:rPr>
              <a:t>Oportunidad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0292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EFF9A"/>
                </a:solidFill>
                <a:latin typeface="Calibri"/>
              </a:rPr>
              <a:t>La Base Actual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Atención a consumo masivo e institucional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79192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Tráfico web y WhatsApp operativos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34670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8269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Filtro inicial manual de leads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014216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502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800 a 900 clientes activos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681728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220 a 250 órdenes de compra mensuales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34924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Necesidad de escalar campañas estacionales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34440"/>
            <a:ext cx="5486400" cy="50292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DEFF9A"/>
                </a:solidFill>
                <a:latin typeface="Calibri"/>
              </a:rPr>
              <a:t>Cuellos de Botella Detectados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201168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9476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Atención dependiente de horarios humanos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679192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61518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Clasificación manual (incluso en cuaderno)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34670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28269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Leads perdidos por falta de seguimiento ágil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014216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9502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Baja visibilidad del embudo completo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681728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617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Imposibilidad operativa de escalar pauta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5349240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528523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Postventa incompleto y sin trazabilidad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EFF9A"/>
                </a:solidFill>
                <a:latin typeface="Calibri"/>
              </a:rPr>
              <a:t>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3200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Arquitectónica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Agente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Primer punto de contacto. Resuelve FAQs, detecta la necesidad real y orienta el flujo sin depender de horarios de oficina.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Enrutamiento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3852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Clasifica y asigna automáticamente por categoría, zona, volumen y perfil de cliente directamente al ejecutivo correcto.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447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Pipeline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Estructura comercial de 16 etapas, desde nuevo prospecto hasta cliente activo. Un flujo 100% visible, medible y escalable.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79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Seguimiento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7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Secuencias automáticas post-cotización, post-muestra y reactivación de clientes dormidos sin llamadas en frío.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40479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840479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0050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Base Conocimiento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98847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Repositorio estructurado con FAQ, categorías, criterios y lógica de derivación que alimenta todos los agentes del sistema.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40479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40479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0050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EFF9A"/>
                </a:solidFill>
                <a:latin typeface="Calibri"/>
              </a:rPr>
              <a:t>Métricas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98847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Dashboard con leads, conversión por línea, tiempos de respuesta y desempeño por ejecutivo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Resultados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48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EFF9A"/>
                </a:solidFill>
                <a:latin typeface="Calibri"/>
              </a:rPr>
              <a:t>Esperados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88036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Área de Impacto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960120"/>
            <a:ext cx="196596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005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Mejora Esperada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960120"/>
            <a:ext cx="43434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0058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Resultado Concreto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960120"/>
            <a:ext cx="178308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005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Plazo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28803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7218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Tiempo de respuesta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19659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47218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↓ 70%–90%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417320"/>
            <a:ext cx="434340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472184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Respuesta inmediata 24/7 vía web y WhatsApp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417320"/>
            <a:ext cx="178308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47218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60–90 días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75688"/>
            <a:ext cx="28803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305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Clasificación y asignación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075688"/>
            <a:ext cx="19659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13055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↓ 60%–80%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075688"/>
            <a:ext cx="434340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130552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Enrutamiento automático por línea, zona y tipo de cliente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075688"/>
            <a:ext cx="178308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1305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60–90 días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34056"/>
            <a:ext cx="28803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889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Carga administrativa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734056"/>
            <a:ext cx="19659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2788920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↓ 25%–40%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2734056"/>
            <a:ext cx="434340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2788920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Más tiempo para negociación, cierres y desarrollo de cuentas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2734056"/>
            <a:ext cx="178308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27889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90–120 días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92424"/>
            <a:ext cx="28803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4472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Oportunidades trabajadas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392424"/>
            <a:ext cx="19659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44728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↑ 20%–35%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392424"/>
            <a:ext cx="434340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447288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Más oportunidades con seguimiento completo y trazable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3392424"/>
            <a:ext cx="178308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344728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90–120 días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50791"/>
            <a:ext cx="28803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05655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Pérdida de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4050791"/>
            <a:ext cx="19659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4105655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↓ 15%–30%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4050791"/>
            <a:ext cx="434340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4105655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Menos negocios perdidos por desorden operativo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4050791"/>
            <a:ext cx="178308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105655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60–120 días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09159"/>
            <a:ext cx="28803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764023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Conversión lead→cotización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7560" y="4709159"/>
            <a:ext cx="196596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4764023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↑ 10%–20%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4709159"/>
            <a:ext cx="434340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4764023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Más solicitudes formales y cotizaciones emitidas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29800" y="4709159"/>
            <a:ext cx="1783080" cy="60350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4764023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90–120 días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67528"/>
            <a:ext cx="28803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42239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Órdenes mensuales adicionales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5367528"/>
            <a:ext cx="196596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29000" y="54223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EFF9A"/>
                </a:solidFill>
                <a:latin typeface="Calibri"/>
              </a:rPr>
              <a:t>↑ 8%–15%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5367528"/>
            <a:ext cx="434340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0" y="5422392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+18 a +38 órdenes adicionales por mes en régimen de madurez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29800" y="5367528"/>
            <a:ext cx="1783080" cy="60350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21240" y="542239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6–12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Retorno sobre la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228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EFF9A"/>
                </a:solidFill>
                <a:latin typeface="Calibri"/>
              </a:rPr>
              <a:t>Inversión (ROI)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Base: 220–250 órdenes/mes  ·  Ticket promedio $200 USD  ·  Facturación base $44,000–$50,000 USD/mes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24688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EFF9A"/>
                </a:solidFill>
                <a:latin typeface="Calibri"/>
              </a:rPr>
              <a:t>Conservador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8% de 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+$3,600 USD/mes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AFFDE"/>
                </a:solidFill>
                <a:latin typeface="Calibri"/>
              </a:rPr>
              <a:t>+18 órdenes/mes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Calibri"/>
              </a:rPr>
              <a:t>ROI en ~42 días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657600" cy="24688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EFF9A"/>
                </a:solidFill>
                <a:latin typeface="Calibri"/>
              </a:rPr>
              <a:t>Moderado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12% de mejora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591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+$5,600 USD/mes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AFFDE"/>
                </a:solidFill>
                <a:latin typeface="Calibri"/>
              </a:rPr>
              <a:t>+28 órdenes/mes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91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Calibri"/>
              </a:rPr>
              <a:t>ROI en ~27 días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657600" cy="24688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657600" cy="6400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EFF9A"/>
                </a:solidFill>
                <a:latin typeface="Calibri"/>
              </a:rPr>
              <a:t>Optimista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15% de mejora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91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+$7,600 USD/mes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AFFDE"/>
                </a:solidFill>
                <a:latin typeface="Calibri"/>
              </a:rPr>
              <a:t>+38 órdenes/mes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Calibri"/>
              </a:rPr>
              <a:t>ROI en ~20 días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776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EFF9A"/>
                </a:solidFill>
                <a:latin typeface="Calibri"/>
              </a:rPr>
              <a:t>Resumen Estratégico del Retorno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80560"/>
            <a:ext cx="32004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80" y="4480560"/>
            <a:ext cx="82296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5171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Eficiencia operativa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517136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Hasta 90% menos tiempo en respuesta y clasificación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73752"/>
            <a:ext cx="3200400" cy="3474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11880" y="4873752"/>
            <a:ext cx="8229600" cy="3474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103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Crecimiento comercial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910328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+$3,600 a +$7,600 USD adicionales por 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66944"/>
            <a:ext cx="32004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5266944"/>
            <a:ext cx="82296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03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Retención y recompra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30352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Base de 800–900 clientes trabajada sistemáticamente por primera vez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60136"/>
            <a:ext cx="3200400" cy="3474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11880" y="5660136"/>
            <a:ext cx="8229600" cy="3474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967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Escalabilidad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5696712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30%–50% más capacidad sin incrementar el equipo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53328"/>
            <a:ext cx="32004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11880" y="6053328"/>
            <a:ext cx="8229600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0899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EFF9A"/>
                </a:solidFill>
                <a:latin typeface="Calibri"/>
              </a:rPr>
              <a:t>Tiempo de impacto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6089904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Primeros resultados visibles entre los 60 y 120 días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Alcance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743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EFF9A"/>
                </a:solidFill>
                <a:latin typeface="Calibri"/>
              </a:rPr>
              <a:t>Fase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EFF9A"/>
                </a:solidFill>
                <a:latin typeface="Calibri"/>
              </a:rPr>
              <a:t>✅  Incluye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10972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Diseño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7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Levantamiento del proceso, flujo de atención, lógica de clasificación, diseño del pipeline y automatizaciones.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486400" cy="10972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Implementación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644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Agente IA inicial, FAQ, base de conocimiento, flujos de clasificación y derivación, pipeline inicial y métricas.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5486400" cy="10972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Capacitación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Sesión de entrenamiento al equipo con explicación detallada de la lógica del sistema y buenas prácticas.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57800"/>
            <a:ext cx="5486400" cy="109728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Soporte y Salida a Vivo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3328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Pruebas rigurosas, afinación de respuestas y ajustes finos durante la puesta en marcha.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0515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  <a:latin typeface="Calibri"/>
              </a:rPr>
              <a:t>❌  No incluye (Fase Evolutiva)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577840" cy="493776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6420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  <a:latin typeface="Calibri"/>
              </a:rPr>
              <a:t>Estos elementos están contemplados como fase evolutiva posterior y pueden adquirirse como módulos adicionales.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47802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Automatización completa de cartera / cobranza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16382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1089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Integración avanzada con ERP o sistema contable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384962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7947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Automatización de guías de transporte y logística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53542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4805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Automatización profunda del proceso post-entrega</a:t>
            </a:r>
          </a:p>
        </p:txBody>
      </p:sp>
      <p:sp>
        <p:nvSpPr>
          <p:cNvPr id="29" name="Oval 28"/>
          <p:cNvSpPr/>
          <p:nvPr/>
        </p:nvSpPr>
        <p:spPr>
          <a:xfrm>
            <a:off x="6446520" y="5221224"/>
            <a:ext cx="109728" cy="109728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1663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Cotizador de precios automático abierto al cliente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Tiempo 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2743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EFF9A"/>
                </a:solidFill>
                <a:latin typeface="Calibri"/>
              </a:rPr>
              <a:t>Implementación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AFFDE"/>
                </a:solidFill>
                <a:latin typeface="Calibri"/>
              </a:rPr>
              <a:t>Sistema construido, probado y operando en un lapso de 6 a 9 semanas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743200" cy="438912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2743200" cy="59436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Etapa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EFF9A"/>
                </a:solidFill>
                <a:latin typeface="Calibri"/>
              </a:rPr>
              <a:t>5–7 días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Discovery y 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015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Validación del proceso, mapeo de FAQs, árbol de decisión, criterios de clasificación y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572768"/>
            <a:ext cx="2743200" cy="438912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572768"/>
            <a:ext cx="2743200" cy="59436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618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Etapa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EFF9A"/>
                </a:solidFill>
                <a:latin typeface="Calibri"/>
              </a:rPr>
              <a:t>7–10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Construcción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4015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Agente IA inicial, configuración de categorías, rutas automáticas y flujos de asignación.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572768"/>
            <a:ext cx="2743200" cy="438912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572768"/>
            <a:ext cx="2743200" cy="59436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618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Etapa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EFF9A"/>
                </a:solidFill>
                <a:latin typeface="Calibri"/>
              </a:rPr>
              <a:t>5–7 días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Pruebas y Ajustes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4015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Pruebas en tiempo real, corrección de casos límite y revisión del flujo de handoff.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572768"/>
            <a:ext cx="2743200" cy="438912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572768"/>
            <a:ext cx="2743200" cy="59436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1618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Etapa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EFF9A"/>
                </a:solidFill>
                <a:latin typeface="Calibri"/>
              </a:rPr>
              <a:t>2–4 semanas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Capacitación y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4015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Entrenamiento al equipo, acompañamiento de adopción y ajustes finos con uso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Inversión en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2743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EFF9A"/>
                </a:solidFill>
                <a:latin typeface="Calibri"/>
              </a:rPr>
              <a:t>Crecimiento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EFF9A"/>
                </a:solidFill>
                <a:latin typeface="Calibri"/>
              </a:rPr>
              <a:t>Fase 1 — Sistema Comercial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1430000" cy="8046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Pago Único (Recomendado)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FF9A"/>
                </a:solidFill>
                <a:latin typeface="Calibri"/>
              </a:rPr>
              <a:t>$4,500 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7099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Ahorra 10% pagando de contado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1430000" cy="8046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 Cuotas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$5,500 USD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624327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$2,750 al inicio  +  $2,750 al salir en vivo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01568"/>
            <a:ext cx="11430000" cy="8046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 Cuotas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$5,400 USD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538727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$1,800 al inicio  +  $1,800 a mitad  +  $1,800 al finalizar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15968"/>
            <a:ext cx="11430000" cy="804672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Mantenimiento mensual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38912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$550 USD /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531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Soporte, ajustes, monitoreo y mejora continua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EFF9A"/>
                </a:solidFill>
                <a:latin typeface="Calibri"/>
              </a:rPr>
              <a:t>Fase Evolutiva — Módulos Adicionales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5440680" cy="77724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61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Sistema individual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925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$2,900 USD c/u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852160"/>
            <a:ext cx="5440680" cy="77724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9618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Paquete completo (todos los módulos)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92531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EFF9A"/>
                </a:solidFill>
                <a:latin typeface="Calibri"/>
              </a:rPr>
              <a:t>$5,500 USD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852160"/>
            <a:ext cx="64008" cy="77724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Próximos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7432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EFF9A"/>
                </a:solidFill>
                <a:latin typeface="Calibri"/>
              </a:rPr>
              <a:t>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Aprobación del Enfoque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Validación del alcance general y ajuste de cualquier detalle de la propuesta.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1417320"/>
            <a:ext cx="594360" cy="594360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Definición de Alcance Fase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Confirmación de los módulos específicos que se implementarán en la primera etapa.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1417320"/>
            <a:ext cx="594360" cy="594360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4475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Entrega de Insumos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FAQ, categorías, responsables comerciales, criterios de clasificación, zonas y fichas.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84048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83080" y="4023360"/>
            <a:ext cx="594360" cy="594360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05079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Sesión de Kick-off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709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Reunión de arranque con el equipo para alinear expectativas, tiempos y responsables.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3840480"/>
            <a:ext cx="3657600" cy="228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5000" y="4023360"/>
            <a:ext cx="594360" cy="594360"/>
          </a:xfrm>
          <a:prstGeom prst="ellipse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405079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Diseño e Implementación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709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AFFDE"/>
                </a:solidFill>
                <a:latin typeface="Calibri"/>
              </a:rPr>
              <a:t>Construcción del sistema, pruebas, capacitación y salida en vivo.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El Siguiente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EFF9A"/>
                </a:solidFill>
                <a:latin typeface="Calibri"/>
              </a:rPr>
              <a:t>Nivel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No necesita un bot. Necesita infraestructura lista para crecer.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069080"/>
            <a:ext cx="5760720" cy="6858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133087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Cognisium LAB  |  Automatización, IA y Sistemas de Ventas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983480"/>
            <a:ext cx="8531352" cy="18288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